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669" r:id="rId5"/>
    <p:sldMasterId id="2147483725" r:id="rId6"/>
  </p:sldMasterIdLst>
  <p:notesMasterIdLst>
    <p:notesMasterId r:id="rId28"/>
  </p:notesMasterIdLst>
  <p:handoutMasterIdLst>
    <p:handoutMasterId r:id="rId29"/>
  </p:handoutMasterIdLst>
  <p:sldIdLst>
    <p:sldId id="1267" r:id="rId7"/>
    <p:sldId id="945" r:id="rId8"/>
    <p:sldId id="986" r:id="rId9"/>
    <p:sldId id="987" r:id="rId10"/>
    <p:sldId id="948" r:id="rId11"/>
    <p:sldId id="996" r:id="rId12"/>
    <p:sldId id="990" r:id="rId13"/>
    <p:sldId id="991" r:id="rId14"/>
    <p:sldId id="992" r:id="rId15"/>
    <p:sldId id="993" r:id="rId16"/>
    <p:sldId id="994" r:id="rId17"/>
    <p:sldId id="995" r:id="rId18"/>
    <p:sldId id="602" r:id="rId19"/>
    <p:sldId id="949" r:id="rId20"/>
    <p:sldId id="1246" r:id="rId21"/>
    <p:sldId id="1262" r:id="rId22"/>
    <p:sldId id="1263" r:id="rId23"/>
    <p:sldId id="920" r:id="rId24"/>
    <p:sldId id="1256" r:id="rId25"/>
    <p:sldId id="1264" r:id="rId26"/>
    <p:sldId id="805" r:id="rId27"/>
  </p:sldIdLst>
  <p:sldSz cx="18288000" cy="10287000"/>
  <p:notesSz cx="6858000" cy="9144000"/>
  <p:embeddedFontLst>
    <p:embeddedFont>
      <p:font typeface="Poppins" panose="00000500000000000000" pitchFamily="2" charset="0"/>
      <p:regular r:id="rId30"/>
      <p:bold r:id="rId31"/>
      <p:italic r:id="rId32"/>
      <p:boldItalic r:id="rId33"/>
    </p:embeddedFont>
    <p:embeddedFont>
      <p:font typeface="Poppins Bold" panose="00000800000000000000" pitchFamily="2" charset="0"/>
      <p:bold r:id="rId34"/>
      <p:italic r:id="rId35"/>
      <p:boldItalic r:id="rId36"/>
    </p:embeddedFont>
    <p:embeddedFont>
      <p:font typeface="Poppins Light" panose="000004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6CA8C269-474B-54A0-5332-E1CD01049E8D}" name="Simara de Bastos Estima" initials="Sd" userId="S::simara.estima@levefuturo.com.br::851f0e59-69da-4352-8f6c-95a0578731bb" providerId="AD"/>
  <p188:author id="{F4028395-8D69-C238-59E5-790C37A83559}" name="Usuário Convidado" initials="UC" userId="S::urn:spo:anon#319181b0b628194b9506eab08b91498210bc05ca33f45caadcd2ec1b94616ef9::"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 id="{E06AE5F7-C4FB-8FC1-0379-16158CB16B4E}" name="Michelle Mirabile Barbosa" initials="MM" userId="S::michelle_barbosa@vanzolini-ead.org.br::514663f0-91cb-4e5c-876a-7189c1f198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na Rimoli" initials="MR" lastIdx="4" clrIdx="0">
    <p:extLst>
      <p:ext uri="{19B8F6BF-5375-455C-9EA6-DF929625EA0E}">
        <p15:presenceInfo xmlns:p15="http://schemas.microsoft.com/office/powerpoint/2012/main" userId="6cf9166fde090e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92D050"/>
    <a:srgbClr val="28566E"/>
    <a:srgbClr val="263B4B"/>
    <a:srgbClr val="D9D9D9"/>
    <a:srgbClr val="D8D2D5"/>
    <a:srgbClr val="EDB1C8"/>
    <a:srgbClr val="000000"/>
    <a:srgbClr val="CAC0C4"/>
    <a:srgbClr val="D0D1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5755" autoAdjust="0"/>
  </p:normalViewPr>
  <p:slideViewPr>
    <p:cSldViewPr snapToGrid="0">
      <p:cViewPr varScale="1">
        <p:scale>
          <a:sx n="72" d="100"/>
          <a:sy n="72" d="100"/>
        </p:scale>
        <p:origin x="576" y="72"/>
      </p:cViewPr>
      <p:guideLst/>
    </p:cSldViewPr>
  </p:slideViewPr>
  <p:notesTextViewPr>
    <p:cViewPr>
      <p:scale>
        <a:sx n="75" d="100"/>
        <a:sy n="75"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10.fntdata"/><Relationship Id="rId21" Type="http://schemas.openxmlformats.org/officeDocument/2006/relationships/slide" Target="slides/slide15.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handoutMaster" Target="handoutMasters/handout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36" Type="http://schemas.openxmlformats.org/officeDocument/2006/relationships/font" Target="fonts/font7.fntdata"/><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46322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7152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97892-38C8-0D9A-60BF-521CEFBD9E0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51F8C0-0FA2-FB69-D14B-53E289BB2C4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0507FCC-33AC-CDE2-E5CA-88AA077628B8}"/>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93D60016-8355-8457-4E07-D8FAF62D0D24}"/>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16481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CF121-066C-3618-1B37-38CF32F7C56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EA34A74-94A9-B0D0-495C-2DDCD657254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5A7915D-FDCD-A62B-3BBF-0E4AFA62D700}"/>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82F0FCD2-B207-F011-4EAC-1F404628B36B}"/>
              </a:ext>
            </a:extLst>
          </p:cNvPr>
          <p:cNvSpPr>
            <a:spLocks noGrp="1"/>
          </p:cNvSpPr>
          <p:nvPr>
            <p:ph type="sldNum" sz="quarter" idx="10"/>
          </p:nvPr>
        </p:nvSpPr>
        <p:spPr/>
        <p:txBody>
          <a:bodyPr/>
          <a:lstStyle/>
          <a:p>
            <a:fld id="{8BE604BA-17DA-4B63-8B72-ADA1FAE27E0B}" type="slidenum">
              <a:rPr lang="pt-BR" smtClean="0"/>
              <a:t>4</a:t>
            </a:fld>
            <a:endParaRPr lang="pt-BR"/>
          </a:p>
        </p:txBody>
      </p:sp>
    </p:spTree>
    <p:extLst>
      <p:ext uri="{BB962C8B-B14F-4D97-AF65-F5344CB8AC3E}">
        <p14:creationId xmlns:p14="http://schemas.microsoft.com/office/powerpoint/2010/main" val="2338483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9565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238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020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0205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0205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r>
              <a:rPr lang="pt-BR" sz="1200" kern="100" dirty="0">
                <a:effectLst/>
                <a:latin typeface="Poppins" panose="00000500000000000000" pitchFamily="2" charset="0"/>
                <a:ea typeface="Aptos" panose="020B0004020202020204" pitchFamily="34" charset="0"/>
                <a:cs typeface="Poppins" panose="00000500000000000000" pitchFamily="2" charset="0"/>
              </a:rPr>
              <a:t>	</a:t>
            </a:r>
            <a:endParaRPr lang="pt-BR" dirty="0">
              <a:latin typeface="Poppins" panose="00000500000000000000" pitchFamily="2" charset="0"/>
              <a:cs typeface="Poppins" panose="00000500000000000000" pitchFamily="2" charset="0"/>
            </a:endParaRPr>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6254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40974-09BA-D3BA-E5E5-867E2314E5D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12323C1-2632-1ACB-A547-955D70FFBB0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5C85B9E-A3E3-CE9D-F4C6-6851E885A81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2996B5C3-A472-EEA0-16BA-14ADE29CFBB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5361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C699A-EDEF-007D-81A1-D018E020441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EB139D8-1E37-9EEF-25F5-4A63BAC0E6E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39F33C2-B799-4B28-00FD-BE70CE67494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115F7F6-CB59-F31E-3B7C-1136C93700D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81020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1372-69BC-EF81-D448-DDBC380BC59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248C2B3-1A20-CE1D-0963-8B52D916C3E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3C593C-70FA-3F17-9BC4-0B06787D8FE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B9C8A68-9A5F-F877-A6E8-05D574DD579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588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041A-9AF7-F0CB-19B7-3CD9CCF5C16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AEA47B-2BB2-DB54-4A64-2E7F411567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78191EA-FBFF-B979-D334-AA3C0B76A471}"/>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9DC1D218-AE83-BC86-CA18-E773DBC88FE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2446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49B3C-F1E5-8444-5F3C-1F5EB980238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351FF38-88DF-8E39-1B06-0891BEA2BE1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2B332F1-4636-AEEC-AA62-0431BAF7D145}"/>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B64917C5-4EE4-9E24-4571-F56F49460D3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5033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63512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0E264C63-4F70-D2ED-F8E1-1D6977440ACB}"/>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a:solidFill>
                  <a:schemeClr val="dk1"/>
                </a:solidFill>
                <a:latin typeface="Poppins"/>
                <a:ea typeface="Poppins"/>
                <a:cs typeface="Poppins"/>
                <a:sym typeface="Poppins"/>
              </a:rPr>
              <a:t>Baixe o roteiro dessa atividade</a:t>
            </a:r>
            <a:endParaRPr lang="pt-BR" sz="1800" b="0" i="0" u="none" strike="noStrike" cap="none" noProof="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CD577C04-C66C-ED79-1FF7-D94CF47A48F7}"/>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A72CCDB0-0956-9961-472E-64BD7567DB43}"/>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pic>
        <p:nvPicPr>
          <p:cNvPr id="6" name="Imagem 5">
            <a:extLst>
              <a:ext uri="{FF2B5EF4-FFF2-40B4-BE49-F238E27FC236}">
                <a16:creationId xmlns:a16="http://schemas.microsoft.com/office/drawing/2014/main" id="{FE9EFCDA-9F14-BBF9-6C8B-953BEAD2AE7D}"/>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51289F2C-98FA-DC03-1AB3-7E09A8A3EA00}"/>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DB188F51-E56E-3687-E9A3-8F95E6ECE663}"/>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49723B01-D67D-8E96-37A3-AE3D70DB3B81}"/>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7691A262-A919-EDCF-E4F0-3AAB278385FA}"/>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8F26CA3F-DFFF-C851-322D-B065BE47BDC6}"/>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8271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AB66C7D7-DDB3-F9FD-8677-0BE3143AEAE2}"/>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865C5814-1338-3B0F-B40E-E0D394A5C21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41AD9C00-4F6A-F2E4-0975-BDCE233D265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B59674AB-A462-5695-C326-2F52B6F11B02}"/>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553E9CE5-1C44-2062-5217-F137CF45BFE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4E582753-934A-EEB8-5CD1-36533C28F0A6}"/>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1272CCC6-6EA2-C89C-878A-4B84B7FB6FC1}"/>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3EDFE714-6081-21C8-ED08-27BB7073145F}"/>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398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FED2B94D-CFFC-E771-3E12-706CF4FD12E0}"/>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6663250E-84BA-045A-4FAF-7244D9025BA9}"/>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BFE5C9FC-3E78-7F20-B4DB-E562EBCB21D3}"/>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AE694F8D-00E9-BE9A-AF8C-131DFD4E8BEA}"/>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D9BE4353-1EBF-5EF1-3AF6-DA0FB1EEB814}"/>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23334AE4-B768-594F-A3AD-721654EC64B3}"/>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a:t>
            </a:r>
            <a:r>
              <a:rPr lang="pt-BR" sz="1200" err="1">
                <a:solidFill>
                  <a:schemeClr val="bg1"/>
                </a:solidFill>
                <a:latin typeface="Poppins Light" panose="00000400000000000000" pitchFamily="2" charset="0"/>
                <a:cs typeface="Poppins Light" panose="00000400000000000000" pitchFamily="2" charset="0"/>
              </a:rPr>
              <a:t>Images</a:t>
            </a:r>
            <a:endParaRPr lang="pt-BR" sz="1200">
              <a:solidFill>
                <a:schemeClr val="bg1"/>
              </a:solidFill>
              <a:latin typeface="Poppins Light" panose="00000400000000000000" pitchFamily="2" charset="0"/>
              <a:cs typeface="Poppins Light" panose="00000400000000000000" pitchFamily="2" charset="0"/>
            </a:endParaRP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5237A944-FA49-14B6-E9EF-16BB2E4BF41C}"/>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a:t>
            </a:r>
            <a:r>
              <a:rPr lang="pt-BR" sz="1200" err="1">
                <a:solidFill>
                  <a:schemeClr val="bg1"/>
                </a:solidFill>
                <a:latin typeface="Poppins Light" panose="00000400000000000000" pitchFamily="2" charset="0"/>
                <a:cs typeface="Poppins Light" panose="00000400000000000000" pitchFamily="2" charset="0"/>
              </a:rPr>
              <a:t>Images</a:t>
            </a:r>
            <a:endParaRPr lang="pt-BR" sz="1200">
              <a:solidFill>
                <a:schemeClr val="bg1"/>
              </a:solidFill>
              <a:latin typeface="Poppins Light" panose="00000400000000000000" pitchFamily="2" charset="0"/>
              <a:cs typeface="Poppins Light" panose="00000400000000000000" pitchFamily="2" charset="0"/>
            </a:endParaRP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95A3D236-5E8B-A449-5200-2AD387000BB9}"/>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3B55ACC7-C90F-CFEC-3663-4A7FDA8337B3}"/>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58944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42380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3602739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3412713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2.xml"/><Relationship Id="rId1" Type="http://schemas.openxmlformats.org/officeDocument/2006/relationships/slideLayout" Target="../slideLayouts/slideLayout32.xml"/><Relationship Id="rId4" Type="http://schemas.openxmlformats.org/officeDocument/2006/relationships/image" Target="../media/image19.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86" r:id="rId1"/>
    <p:sldLayoutId id="2147483693" r:id="rId2"/>
    <p:sldLayoutId id="2147483648" r:id="rId3"/>
    <p:sldLayoutId id="2147483731" r:id="rId4"/>
    <p:sldLayoutId id="2147483709" r:id="rId5"/>
    <p:sldLayoutId id="2147483710" r:id="rId6"/>
    <p:sldLayoutId id="2147483735" r:id="rId7"/>
    <p:sldLayoutId id="2147483741" r:id="rId8"/>
    <p:sldLayoutId id="2147483740" r:id="rId9"/>
    <p:sldLayoutId id="2147483739" r:id="rId10"/>
    <p:sldLayoutId id="2147483738" r:id="rId11"/>
    <p:sldLayoutId id="2147483737" r:id="rId12"/>
    <p:sldLayoutId id="2147483736" r:id="rId13"/>
    <p:sldLayoutId id="2147483711" r:id="rId14"/>
    <p:sldLayoutId id="2147483712" r:id="rId15"/>
    <p:sldLayoutId id="2147483694" r:id="rId16"/>
    <p:sldLayoutId id="2147483713" r:id="rId17"/>
    <p:sldLayoutId id="2147483742" r:id="rId18"/>
    <p:sldLayoutId id="2147483690" r:id="rId19"/>
    <p:sldLayoutId id="2147483698" r:id="rId20"/>
    <p:sldLayoutId id="2147483714" r:id="rId21"/>
    <p:sldLayoutId id="2147483701" r:id="rId22"/>
    <p:sldLayoutId id="2147483727" r:id="rId23"/>
    <p:sldLayoutId id="2147483705" r:id="rId24"/>
    <p:sldLayoutId id="2147483728" r:id="rId25"/>
    <p:sldLayoutId id="2147483707" r:id="rId26"/>
    <p:sldLayoutId id="2147483734" r:id="rId27"/>
    <p:sldLayoutId id="2147483729" r:id="rId28"/>
    <p:sldLayoutId id="2147483730" r:id="rId29"/>
    <p:sldLayoutId id="2147483733" r:id="rId30"/>
    <p:sldLayoutId id="2147483732"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3"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2225554464"/>
      </p:ext>
    </p:extLst>
  </p:cSld>
  <p:clrMap bg1="lt1" tx1="dk1" bg2="lt2" tx2="dk2" accent1="accent1" accent2="accent2" accent3="accent3" accent4="accent4" accent5="accent5" accent6="accent6" hlink="hlink" folHlink="folHlink"/>
  <p:sldLayoutIdLst>
    <p:sldLayoutId id="2147483979"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2124"/>
      </p:ext>
    </p:extLst>
  </p:cSld>
  <p:clrMap bg1="lt1" tx1="dk1" bg2="lt2" tx2="dk2" accent1="accent1" accent2="accent2" accent3="accent3" accent4="accent4" accent5="accent5" accent6="accent6" hlink="hlink" folHlink="folHlink"/>
  <p:sldLayoutIdLst>
    <p:sldLayoutId id="21474839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hyperlink" Target="https://softdesign.com.br/blog/cypress_passo_a_passo_para_comecar_a_usar/#h-o-que-e-o-cypress" TargetMode="External"/><Relationship Id="rId2" Type="http://schemas.openxmlformats.org/officeDocument/2006/relationships/hyperlink" Target="https://www.devmedia.com.br/teste-unitario-com-jest/41234" TargetMode="External"/><Relationship Id="rId1" Type="http://schemas.openxmlformats.org/officeDocument/2006/relationships/slideLayout" Target="../slideLayouts/slideLayout26.xml"/><Relationship Id="rId4" Type="http://schemas.openxmlformats.org/officeDocument/2006/relationships/hyperlink" Target="https://www.alura.com.br/artigos/como-implementar-cobertura-testes-cypres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9.xml"/><Relationship Id="rId6" Type="http://schemas.openxmlformats.org/officeDocument/2006/relationships/image" Target="../media/image32.emf"/><Relationship Id="rId5" Type="http://schemas.openxmlformats.org/officeDocument/2006/relationships/image" Target="../media/image31.svg"/><Relationship Id="rId4" Type="http://schemas.openxmlformats.org/officeDocument/2006/relationships/image" Target="../media/image30.svg"/></Relationships>
</file>

<file path=ppt/slides/_rels/slide1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9.xml"/><Relationship Id="rId4" Type="http://schemas.openxmlformats.org/officeDocument/2006/relationships/image" Target="../media/image30.svg"/></Relationships>
</file>

<file path=ppt/slides/_rels/slide1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9.xml"/><Relationship Id="rId1" Type="http://schemas.openxmlformats.org/officeDocument/2006/relationships/slideLayout" Target="../slideLayouts/slideLayout29.xml"/><Relationship Id="rId5" Type="http://schemas.openxmlformats.org/officeDocument/2006/relationships/image" Target="../media/image29.png"/><Relationship Id="rId4" Type="http://schemas.openxmlformats.org/officeDocument/2006/relationships/image" Target="../media/image34.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092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919771" y="3203009"/>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Técnicas de esteiras de entrega contínua</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919768" y="5331458"/>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a:latin typeface="Poppins"/>
                <a:cs typeface="Poppins"/>
              </a:rPr>
              <a:t>Código da aula: [SIS]ANO2C3B4S23A2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919768" y="128590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Integração com serviços externos e esteiras de entrega</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919769" y="4430920"/>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a:solidFill>
                  <a:srgbClr val="BFBFBF"/>
                </a:solidFill>
                <a:latin typeface="Poppins Medium" panose="00000600000000000000" pitchFamily="2" charset="0"/>
                <a:cs typeface="Poppins Medium" panose="00000600000000000000" pitchFamily="2" charset="0"/>
              </a:rPr>
              <a:t>Aula 2: Testes automatizados com </a:t>
            </a:r>
            <a:r>
              <a:rPr lang="pt-BR" b="0" err="1">
                <a:solidFill>
                  <a:srgbClr val="BFBFBF"/>
                </a:solidFill>
                <a:latin typeface="Poppins Medium" panose="00000600000000000000" pitchFamily="2" charset="0"/>
                <a:cs typeface="Poppins Medium" panose="00000600000000000000" pitchFamily="2" charset="0"/>
              </a:rPr>
              <a:t>Jest</a:t>
            </a:r>
            <a:r>
              <a:rPr lang="pt-BR" b="0">
                <a:solidFill>
                  <a:srgbClr val="BFBFBF"/>
                </a:solidFill>
                <a:latin typeface="Poppins Medium" panose="00000600000000000000" pitchFamily="2" charset="0"/>
                <a:cs typeface="Poppins Medium" panose="00000600000000000000" pitchFamily="2" charset="0"/>
              </a:rPr>
              <a:t> e Cypress</a:t>
            </a:r>
          </a:p>
        </p:txBody>
      </p:sp>
      <p:pic>
        <p:nvPicPr>
          <p:cNvPr id="3" name="Imagem 2">
            <a:extLst>
              <a:ext uri="{FF2B5EF4-FFF2-40B4-BE49-F238E27FC236}">
                <a16:creationId xmlns:a16="http://schemas.microsoft.com/office/drawing/2014/main" id="{FF69452B-215A-AFED-D861-99CB3FC7C900}"/>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C6EE15F8-0EC6-8F2D-4FA0-A1A4C9342AE0}"/>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CEFB76B4-0D5C-D82A-EB4A-0D84B522BAE7}"/>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BD446F41-2E00-DA9E-7943-763C8BA08B45}"/>
              </a:ext>
            </a:extLst>
          </p:cNvPr>
          <p:cNvPicPr>
            <a:picLocks/>
          </p:cNvPicPr>
          <p:nvPr/>
        </p:nvPicPr>
        <p:blipFill>
          <a:blip r:embed="rId4"/>
          <a:stretch>
            <a:fillRect/>
          </a:stretch>
        </p:blipFill>
        <p:spPr>
          <a:xfrm>
            <a:off x="15804024" y="9190814"/>
            <a:ext cx="2307604" cy="1044002"/>
          </a:xfrm>
          <a:prstGeom prst="rect">
            <a:avLst/>
          </a:prstGeom>
        </p:spPr>
      </p:pic>
    </p:spTree>
    <p:extLst>
      <p:ext uri="{BB962C8B-B14F-4D97-AF65-F5344CB8AC3E}">
        <p14:creationId xmlns:p14="http://schemas.microsoft.com/office/powerpoint/2010/main" val="27344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F0FA-16A0-826F-902E-FBAE6C79F70A}"/>
            </a:ext>
          </a:extLst>
        </p:cNvPr>
        <p:cNvGrpSpPr/>
        <p:nvPr/>
      </p:nvGrpSpPr>
      <p:grpSpPr>
        <a:xfrm>
          <a:off x="0" y="0"/>
          <a:ext cx="0" cy="0"/>
          <a:chOff x="0" y="0"/>
          <a:chExt cx="0" cy="0"/>
        </a:xfrm>
      </p:grpSpPr>
      <p:sp>
        <p:nvSpPr>
          <p:cNvPr id="30" name="Espaço Reservado para Texto 29">
            <a:extLst>
              <a:ext uri="{FF2B5EF4-FFF2-40B4-BE49-F238E27FC236}">
                <a16:creationId xmlns:a16="http://schemas.microsoft.com/office/drawing/2014/main" id="{89910A98-B6E3-DC4F-3314-E441A7CD7777}"/>
              </a:ext>
            </a:extLst>
          </p:cNvPr>
          <p:cNvSpPr>
            <a:spLocks noGrp="1"/>
          </p:cNvSpPr>
          <p:nvPr>
            <p:ph type="body" sz="quarter" idx="12"/>
          </p:nvPr>
        </p:nvSpPr>
        <p:spPr/>
        <p:txBody>
          <a:bodyPr/>
          <a:lstStyle/>
          <a:p>
            <a:r>
              <a:rPr lang="pt-BR" dirty="0"/>
              <a:t>Serviços de autenticação e monitoramento</a:t>
            </a:r>
          </a:p>
        </p:txBody>
      </p:sp>
      <p:sp>
        <p:nvSpPr>
          <p:cNvPr id="31" name="Espaço Reservado para Texto 30">
            <a:extLst>
              <a:ext uri="{FF2B5EF4-FFF2-40B4-BE49-F238E27FC236}">
                <a16:creationId xmlns:a16="http://schemas.microsoft.com/office/drawing/2014/main" id="{C7D5B311-4D2A-2875-41A7-B856329C836E}"/>
              </a:ext>
            </a:extLst>
          </p:cNvPr>
          <p:cNvSpPr>
            <a:spLocks noGrp="1"/>
          </p:cNvSpPr>
          <p:nvPr>
            <p:ph type="body" sz="quarter" idx="13"/>
          </p:nvPr>
        </p:nvSpPr>
        <p:spPr/>
        <p:txBody>
          <a:bodyPr/>
          <a:lstStyle/>
          <a:p>
            <a:r>
              <a:rPr lang="pt-BR"/>
              <a:t>Você está aqui!</a:t>
            </a:r>
          </a:p>
        </p:txBody>
      </p:sp>
      <p:sp>
        <p:nvSpPr>
          <p:cNvPr id="32" name="Espaço Reservado para Texto 31">
            <a:extLst>
              <a:ext uri="{FF2B5EF4-FFF2-40B4-BE49-F238E27FC236}">
                <a16:creationId xmlns:a16="http://schemas.microsoft.com/office/drawing/2014/main" id="{196EF3E9-ECB8-C807-7B57-1D64F09F3DAB}"/>
              </a:ext>
            </a:extLst>
          </p:cNvPr>
          <p:cNvSpPr>
            <a:spLocks noGrp="1"/>
          </p:cNvSpPr>
          <p:nvPr>
            <p:ph type="body" sz="quarter" idx="14"/>
          </p:nvPr>
        </p:nvSpPr>
        <p:spPr/>
        <p:txBody>
          <a:bodyPr/>
          <a:lstStyle/>
          <a:p>
            <a:r>
              <a:rPr lang="pt-BR"/>
              <a:t>21</a:t>
            </a:r>
          </a:p>
        </p:txBody>
      </p:sp>
      <p:sp>
        <p:nvSpPr>
          <p:cNvPr id="33" name="Espaço Reservado para Texto 32">
            <a:extLst>
              <a:ext uri="{FF2B5EF4-FFF2-40B4-BE49-F238E27FC236}">
                <a16:creationId xmlns:a16="http://schemas.microsoft.com/office/drawing/2014/main" id="{8DA669BB-7561-F8A0-BE61-E302AD897A09}"/>
              </a:ext>
            </a:extLst>
          </p:cNvPr>
          <p:cNvSpPr>
            <a:spLocks noGrp="1"/>
          </p:cNvSpPr>
          <p:nvPr>
            <p:ph type="body" sz="quarter" idx="15"/>
          </p:nvPr>
        </p:nvSpPr>
        <p:spPr/>
        <p:txBody>
          <a:bodyPr/>
          <a:lstStyle/>
          <a:p>
            <a:r>
              <a:rPr lang="pt-BR" dirty="0"/>
              <a:t>Integração de serviços externos e CI/CD</a:t>
            </a:r>
          </a:p>
        </p:txBody>
      </p:sp>
      <p:sp>
        <p:nvSpPr>
          <p:cNvPr id="35" name="Espaço Reservado para Texto 34">
            <a:extLst>
              <a:ext uri="{FF2B5EF4-FFF2-40B4-BE49-F238E27FC236}">
                <a16:creationId xmlns:a16="http://schemas.microsoft.com/office/drawing/2014/main" id="{33C51CD0-A2FB-537F-4B47-F76F1330A6D9}"/>
              </a:ext>
            </a:extLst>
          </p:cNvPr>
          <p:cNvSpPr>
            <a:spLocks noGrp="1"/>
          </p:cNvSpPr>
          <p:nvPr>
            <p:ph type="body" sz="quarter" idx="17"/>
          </p:nvPr>
        </p:nvSpPr>
        <p:spPr/>
        <p:txBody>
          <a:bodyPr/>
          <a:lstStyle/>
          <a:p>
            <a:r>
              <a:rPr lang="pt-BR" dirty="0"/>
              <a:t>Técnicas de esteiras de entrega contínua</a:t>
            </a:r>
          </a:p>
        </p:txBody>
      </p:sp>
      <p:sp>
        <p:nvSpPr>
          <p:cNvPr id="36" name="Espaço Reservado para Texto 35">
            <a:extLst>
              <a:ext uri="{FF2B5EF4-FFF2-40B4-BE49-F238E27FC236}">
                <a16:creationId xmlns:a16="http://schemas.microsoft.com/office/drawing/2014/main" id="{2D48845E-F811-E74B-0014-62061C1A8E90}"/>
              </a:ext>
            </a:extLst>
          </p:cNvPr>
          <p:cNvSpPr>
            <a:spLocks noGrp="1"/>
          </p:cNvSpPr>
          <p:nvPr>
            <p:ph type="body" sz="quarter" idx="18"/>
          </p:nvPr>
        </p:nvSpPr>
        <p:spPr/>
        <p:txBody>
          <a:bodyPr/>
          <a:lstStyle/>
          <a:p>
            <a:r>
              <a:rPr lang="pt-BR"/>
              <a:t>23</a:t>
            </a:r>
          </a:p>
        </p:txBody>
      </p:sp>
      <p:sp>
        <p:nvSpPr>
          <p:cNvPr id="37" name="Espaço Reservado para Texto 36">
            <a:extLst>
              <a:ext uri="{FF2B5EF4-FFF2-40B4-BE49-F238E27FC236}">
                <a16:creationId xmlns:a16="http://schemas.microsoft.com/office/drawing/2014/main" id="{9C29D5B5-B38C-BFC3-9319-C900C3CE63ED}"/>
              </a:ext>
            </a:extLst>
          </p:cNvPr>
          <p:cNvSpPr>
            <a:spLocks noGrp="1"/>
          </p:cNvSpPr>
          <p:nvPr>
            <p:ph type="body" sz="quarter" idx="19"/>
          </p:nvPr>
        </p:nvSpPr>
        <p:spPr/>
        <p:txBody>
          <a:bodyPr/>
          <a:lstStyle/>
          <a:p>
            <a:r>
              <a:rPr lang="pt-BR"/>
              <a:t>27</a:t>
            </a:r>
          </a:p>
        </p:txBody>
      </p:sp>
      <p:sp>
        <p:nvSpPr>
          <p:cNvPr id="28" name="Subtítulo 27">
            <a:extLst>
              <a:ext uri="{FF2B5EF4-FFF2-40B4-BE49-F238E27FC236}">
                <a16:creationId xmlns:a16="http://schemas.microsoft.com/office/drawing/2014/main" id="{AB8EEF10-B32B-6132-B3F8-E7735EAD9784}"/>
              </a:ext>
            </a:extLst>
          </p:cNvPr>
          <p:cNvSpPr>
            <a:spLocks noGrp="1"/>
          </p:cNvSpPr>
          <p:nvPr>
            <p:ph type="subTitle" idx="1"/>
          </p:nvPr>
        </p:nvSpPr>
        <p:spPr/>
        <p:txBody>
          <a:bodyPr/>
          <a:lstStyle/>
          <a:p>
            <a:r>
              <a:rPr lang="pt-BR"/>
              <a:t>22</a:t>
            </a:r>
          </a:p>
        </p:txBody>
      </p:sp>
      <p:sp>
        <p:nvSpPr>
          <p:cNvPr id="29" name="Espaço Reservado para Texto 28">
            <a:extLst>
              <a:ext uri="{FF2B5EF4-FFF2-40B4-BE49-F238E27FC236}">
                <a16:creationId xmlns:a16="http://schemas.microsoft.com/office/drawing/2014/main" id="{80271571-EE0C-84A5-B949-691107DB3D1F}"/>
              </a:ext>
            </a:extLst>
          </p:cNvPr>
          <p:cNvSpPr>
            <a:spLocks noGrp="1"/>
          </p:cNvSpPr>
          <p:nvPr>
            <p:ph type="body" sz="quarter" idx="10"/>
          </p:nvPr>
        </p:nvSpPr>
        <p:spPr/>
        <p:txBody>
          <a:bodyPr/>
          <a:lstStyle/>
          <a:p>
            <a:r>
              <a:rPr lang="pt-BR" dirty="0"/>
              <a:t>Avançando na integração com serviços externos</a:t>
            </a:r>
          </a:p>
        </p:txBody>
      </p:sp>
      <p:sp>
        <p:nvSpPr>
          <p:cNvPr id="34" name="Espaço Reservado para Texto 33">
            <a:extLst>
              <a:ext uri="{FF2B5EF4-FFF2-40B4-BE49-F238E27FC236}">
                <a16:creationId xmlns:a16="http://schemas.microsoft.com/office/drawing/2014/main" id="{FBB99B51-DB3E-A5EC-C149-BAF45BCB02CD}"/>
              </a:ext>
            </a:extLst>
          </p:cNvPr>
          <p:cNvSpPr>
            <a:spLocks noGrp="1"/>
          </p:cNvSpPr>
          <p:nvPr>
            <p:ph type="body" sz="quarter" idx="16"/>
          </p:nvPr>
        </p:nvSpPr>
        <p:spPr/>
        <p:txBody>
          <a:bodyPr/>
          <a:lstStyle/>
          <a:p>
            <a:r>
              <a:rPr lang="pt-BR" dirty="0"/>
              <a:t>Testes e monitoramento de aplicações</a:t>
            </a:r>
          </a:p>
        </p:txBody>
      </p:sp>
      <p:sp>
        <p:nvSpPr>
          <p:cNvPr id="38" name="Espaço Reservado para Texto 37">
            <a:extLst>
              <a:ext uri="{FF2B5EF4-FFF2-40B4-BE49-F238E27FC236}">
                <a16:creationId xmlns:a16="http://schemas.microsoft.com/office/drawing/2014/main" id="{E991F725-6E53-F34C-B6C6-0AFF907C0B2A}"/>
              </a:ext>
            </a:extLst>
          </p:cNvPr>
          <p:cNvSpPr>
            <a:spLocks noGrp="1"/>
          </p:cNvSpPr>
          <p:nvPr>
            <p:ph type="body" sz="quarter" idx="20"/>
          </p:nvPr>
        </p:nvSpPr>
        <p:spPr/>
        <p:txBody>
          <a:bodyPr/>
          <a:lstStyle/>
          <a:p>
            <a:r>
              <a:rPr lang="pt-BR"/>
              <a:t>28</a:t>
            </a:r>
          </a:p>
        </p:txBody>
      </p:sp>
      <p:pic>
        <p:nvPicPr>
          <p:cNvPr id="5" name="Imagem 4">
            <a:extLst>
              <a:ext uri="{FF2B5EF4-FFF2-40B4-BE49-F238E27FC236}">
                <a16:creationId xmlns:a16="http://schemas.microsoft.com/office/drawing/2014/main" id="{44ACB93C-0A5F-C455-E713-3DE14AF9799A}"/>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F80C4BB0-ABEB-E6D7-C596-AFCEB817A9B7}"/>
              </a:ext>
            </a:extLst>
          </p:cNvPr>
          <p:cNvPicPr>
            <a:picLocks/>
          </p:cNvPicPr>
          <p:nvPr/>
        </p:nvPicPr>
        <p:blipFill>
          <a:blip r:embed="rId4"/>
          <a:stretch>
            <a:fillRect/>
          </a:stretch>
        </p:blipFill>
        <p:spPr>
          <a:xfrm>
            <a:off x="3117605" y="320401"/>
            <a:ext cx="3348005" cy="2484004"/>
          </a:xfrm>
          <a:prstGeom prst="rect">
            <a:avLst/>
          </a:prstGeom>
        </p:spPr>
      </p:pic>
      <p:sp>
        <p:nvSpPr>
          <p:cNvPr id="41" name="CaixaDeTexto 40">
            <a:extLst>
              <a:ext uri="{FF2B5EF4-FFF2-40B4-BE49-F238E27FC236}">
                <a16:creationId xmlns:a16="http://schemas.microsoft.com/office/drawing/2014/main" id="{B3E41957-CC86-2EC7-171A-90B656227E95}"/>
              </a:ext>
            </a:extLst>
          </p:cNvPr>
          <p:cNvSpPr txBox="1"/>
          <p:nvPr/>
        </p:nvSpPr>
        <p:spPr>
          <a:xfrm>
            <a:off x="3170905" y="873904"/>
            <a:ext cx="3148235" cy="1361911"/>
          </a:xfrm>
          <a:prstGeom prst="rect">
            <a:avLst/>
          </a:prstGeom>
          <a:noFill/>
        </p:spPr>
        <p:txBody>
          <a:bodyPr wrap="square" rtlCol="0">
            <a:spAutoFit/>
          </a:bodyPr>
          <a:lstStyle/>
          <a:p>
            <a:pPr algn="ctr"/>
            <a:r>
              <a:rPr lang="pt-BR" sz="2750" b="1">
                <a:solidFill>
                  <a:schemeClr val="bg1"/>
                </a:solidFill>
                <a:latin typeface="Poppins" panose="00000500000000000000" pitchFamily="2" charset="0"/>
                <a:cs typeface="Poppins" panose="00000500000000000000" pitchFamily="2" charset="0"/>
              </a:rPr>
              <a:t>Mapa da </a:t>
            </a:r>
          </a:p>
          <a:p>
            <a:pPr algn="ctr"/>
            <a:r>
              <a:rPr lang="pt-BR" sz="2750" b="1">
                <a:solidFill>
                  <a:schemeClr val="bg1"/>
                </a:solidFill>
                <a:latin typeface="Poppins" panose="00000500000000000000" pitchFamily="2" charset="0"/>
                <a:cs typeface="Poppins" panose="00000500000000000000" pitchFamily="2" charset="0"/>
              </a:rPr>
              <a:t>Unidade 4   Componente 3</a:t>
            </a:r>
          </a:p>
        </p:txBody>
      </p:sp>
      <p:sp>
        <p:nvSpPr>
          <p:cNvPr id="42" name="Google Shape;329;p3">
            <a:extLst>
              <a:ext uri="{FF2B5EF4-FFF2-40B4-BE49-F238E27FC236}">
                <a16:creationId xmlns:a16="http://schemas.microsoft.com/office/drawing/2014/main" id="{476FE78A-1C35-2B12-91ED-BEC18017E554}"/>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Integração com serviços externos e esteiras de entrega</a:t>
            </a:r>
          </a:p>
        </p:txBody>
      </p:sp>
    </p:spTree>
    <p:extLst>
      <p:ext uri="{BB962C8B-B14F-4D97-AF65-F5344CB8AC3E}">
        <p14:creationId xmlns:p14="http://schemas.microsoft.com/office/powerpoint/2010/main" val="2412236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21E2-5281-9740-6332-D0D89023FB9D}"/>
            </a:ext>
          </a:extLst>
        </p:cNvPr>
        <p:cNvGrpSpPr/>
        <p:nvPr/>
      </p:nvGrpSpPr>
      <p:grpSpPr>
        <a:xfrm>
          <a:off x="0" y="0"/>
          <a:ext cx="0" cy="0"/>
          <a:chOff x="0" y="0"/>
          <a:chExt cx="0" cy="0"/>
        </a:xfrm>
      </p:grpSpPr>
      <p:sp>
        <p:nvSpPr>
          <p:cNvPr id="42" name="Google Shape;344;p4">
            <a:extLst>
              <a:ext uri="{FF2B5EF4-FFF2-40B4-BE49-F238E27FC236}">
                <a16:creationId xmlns:a16="http://schemas.microsoft.com/office/drawing/2014/main" id="{1650749F-6D61-0440-2EA3-803D860C704A}"/>
              </a:ext>
            </a:extLst>
          </p:cNvPr>
          <p:cNvSpPr txBox="1"/>
          <p:nvPr/>
        </p:nvSpPr>
        <p:spPr>
          <a:xfrm>
            <a:off x="2412396" y="6405425"/>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Técnicas de esteiras de entrega contínua</a:t>
            </a:r>
          </a:p>
        </p:txBody>
      </p:sp>
      <p:sp>
        <p:nvSpPr>
          <p:cNvPr id="43" name="Google Shape;345;p4">
            <a:extLst>
              <a:ext uri="{FF2B5EF4-FFF2-40B4-BE49-F238E27FC236}">
                <a16:creationId xmlns:a16="http://schemas.microsoft.com/office/drawing/2014/main" id="{5E788A68-E6DB-DD8A-36B2-0DA7AD1D3160}"/>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3000"/>
            </a:pPr>
            <a:r>
              <a:rPr lang="pt-BR" sz="6600" b="1">
                <a:solidFill>
                  <a:srgbClr val="FA161E"/>
                </a:solidFill>
                <a:latin typeface="Poppins"/>
                <a:ea typeface="Poppins"/>
                <a:cs typeface="Poppins"/>
                <a:sym typeface="Poppins"/>
              </a:rPr>
              <a:t>Você está aqui!</a:t>
            </a:r>
            <a:endParaRPr sz="2400">
              <a:solidFill>
                <a:srgbClr val="000000"/>
              </a:solidFill>
              <a:latin typeface="Arial"/>
              <a:ea typeface="Arial"/>
              <a:cs typeface="Arial"/>
              <a:sym typeface="Arial"/>
            </a:endParaRPr>
          </a:p>
        </p:txBody>
      </p:sp>
      <p:sp>
        <p:nvSpPr>
          <p:cNvPr id="44" name="Google Shape;349;p4">
            <a:extLst>
              <a:ext uri="{FF2B5EF4-FFF2-40B4-BE49-F238E27FC236}">
                <a16:creationId xmlns:a16="http://schemas.microsoft.com/office/drawing/2014/main" id="{FEF292AC-2ACA-B7C1-3ED2-807310926EAC}"/>
              </a:ext>
            </a:extLst>
          </p:cNvPr>
          <p:cNvSpPr txBox="1"/>
          <p:nvPr/>
        </p:nvSpPr>
        <p:spPr>
          <a:xfrm>
            <a:off x="2412396" y="9250396"/>
            <a:ext cx="6731604" cy="808004"/>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500"/>
              <a:buFont typeface="Arial"/>
              <a:buNone/>
            </a:pPr>
            <a:r>
              <a:rPr lang="pt-BR" sz="2500" b="0" i="0" u="none" strike="noStrike" cap="none" dirty="0">
                <a:solidFill>
                  <a:srgbClr val="000000"/>
                </a:solidFill>
                <a:latin typeface="Poppins"/>
                <a:ea typeface="Poppins"/>
                <a:cs typeface="Poppins"/>
                <a:sym typeface="Poppins"/>
              </a:rPr>
              <a:t>Código da aula: [</a:t>
            </a:r>
            <a:r>
              <a:rPr lang="pt-BR" sz="2500" dirty="0">
                <a:latin typeface="Poppins"/>
                <a:ea typeface="Poppins"/>
                <a:cs typeface="Poppins"/>
                <a:sym typeface="Poppins"/>
              </a:rPr>
              <a:t>SIS</a:t>
            </a:r>
            <a:r>
              <a:rPr lang="pt-BR" sz="2500" b="0" i="0" u="none" strike="noStrike" cap="none" dirty="0">
                <a:solidFill>
                  <a:srgbClr val="000000"/>
                </a:solidFill>
                <a:latin typeface="Poppins"/>
                <a:ea typeface="Poppins"/>
                <a:cs typeface="Poppins"/>
                <a:sym typeface="Poppins"/>
              </a:rPr>
              <a:t>]ANO2</a:t>
            </a:r>
            <a:r>
              <a:rPr lang="pt-BR" sz="2500" dirty="0">
                <a:latin typeface="Poppins"/>
                <a:ea typeface="Poppins"/>
                <a:cs typeface="Poppins"/>
                <a:sym typeface="Poppins"/>
              </a:rPr>
              <a:t>C3B4S23A2</a:t>
            </a:r>
            <a:endParaRPr lang="pt-BR" sz="1400" b="0" i="0" u="none" strike="noStrike" cap="none" dirty="0">
              <a:solidFill>
                <a:srgbClr val="000000"/>
              </a:solidFill>
              <a:latin typeface="Arial"/>
              <a:ea typeface="Arial"/>
              <a:cs typeface="Arial"/>
              <a:sym typeface="Arial"/>
            </a:endParaRPr>
          </a:p>
        </p:txBody>
      </p:sp>
      <p:sp>
        <p:nvSpPr>
          <p:cNvPr id="45" name="Google Shape;350;p4">
            <a:extLst>
              <a:ext uri="{FF2B5EF4-FFF2-40B4-BE49-F238E27FC236}">
                <a16:creationId xmlns:a16="http://schemas.microsoft.com/office/drawing/2014/main" id="{F673EFBB-9457-07DB-2B27-A6F58D9184A3}"/>
              </a:ext>
            </a:extLst>
          </p:cNvPr>
          <p:cNvSpPr txBox="1"/>
          <p:nvPr/>
        </p:nvSpPr>
        <p:spPr>
          <a:xfrm>
            <a:off x="2412396" y="7844417"/>
            <a:ext cx="9089792"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Clr>
                <a:schemeClr val="dk1"/>
              </a:buClr>
              <a:buSzPts val="2500"/>
            </a:pPr>
            <a:r>
              <a:rPr lang="pt-BR" sz="3600" b="1" dirty="0">
                <a:solidFill>
                  <a:schemeClr val="dk1"/>
                </a:solidFill>
                <a:latin typeface="Poppins"/>
                <a:ea typeface="Poppins"/>
                <a:cs typeface="Poppins"/>
                <a:sym typeface="Poppins"/>
              </a:rPr>
              <a:t>Aula 2: Testes automatizados com </a:t>
            </a:r>
            <a:r>
              <a:rPr lang="pt-BR" sz="3600" b="1" dirty="0" err="1">
                <a:solidFill>
                  <a:schemeClr val="dk1"/>
                </a:solidFill>
                <a:latin typeface="Poppins"/>
                <a:ea typeface="Poppins"/>
                <a:cs typeface="Poppins"/>
                <a:sym typeface="Poppins"/>
              </a:rPr>
              <a:t>Jest</a:t>
            </a:r>
            <a:r>
              <a:rPr lang="pt-BR" sz="3600" b="1" dirty="0">
                <a:solidFill>
                  <a:schemeClr val="dk1"/>
                </a:solidFill>
                <a:latin typeface="Poppins"/>
                <a:ea typeface="Poppins"/>
                <a:cs typeface="Poppins"/>
                <a:sym typeface="Poppins"/>
              </a:rPr>
              <a:t> e Cypress</a:t>
            </a:r>
            <a:endParaRPr lang="pt-BR" sz="3600" dirty="0">
              <a:solidFill>
                <a:srgbClr val="000000"/>
              </a:solidFill>
              <a:latin typeface="Arial"/>
              <a:ea typeface="Arial"/>
              <a:cs typeface="Arial"/>
              <a:sym typeface="Arial"/>
            </a:endParaRPr>
          </a:p>
        </p:txBody>
      </p:sp>
      <p:sp>
        <p:nvSpPr>
          <p:cNvPr id="46" name="Google Shape;341;p4">
            <a:extLst>
              <a:ext uri="{FF2B5EF4-FFF2-40B4-BE49-F238E27FC236}">
                <a16:creationId xmlns:a16="http://schemas.microsoft.com/office/drawing/2014/main" id="{EFC7D391-0007-FA37-4D43-E1AD290D9ECA}"/>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Clr>
                <a:srgbClr val="000000"/>
              </a:buClr>
              <a:buSzPts val="2700"/>
            </a:pPr>
            <a:endParaRPr sz="4050">
              <a:solidFill>
                <a:srgbClr val="FFFFFF"/>
              </a:solidFill>
              <a:latin typeface="Calibri"/>
              <a:ea typeface="Calibri"/>
              <a:cs typeface="Calibri"/>
              <a:sym typeface="Calibri"/>
            </a:endParaRPr>
          </a:p>
        </p:txBody>
      </p:sp>
      <p:sp>
        <p:nvSpPr>
          <p:cNvPr id="47" name="Google Shape;342;p4">
            <a:extLst>
              <a:ext uri="{FF2B5EF4-FFF2-40B4-BE49-F238E27FC236}">
                <a16:creationId xmlns:a16="http://schemas.microsoft.com/office/drawing/2014/main" id="{98F42268-E937-EC88-6533-B7284167181B}"/>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6000"/>
            </a:pPr>
            <a:r>
              <a:rPr lang="pt-BR" sz="6000" b="1">
                <a:solidFill>
                  <a:srgbClr val="FFFFFF"/>
                </a:solidFill>
                <a:latin typeface="Poppins"/>
                <a:ea typeface="Calibri"/>
                <a:cs typeface="Poppins"/>
                <a:sym typeface="Poppins"/>
              </a:rPr>
              <a:t>23</a:t>
            </a:r>
            <a:endParaRPr sz="6000">
              <a:solidFill>
                <a:srgbClr val="FFFFFF"/>
              </a:solidFill>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707019E7-9F4B-B372-4C34-7C6EE8CA7685}"/>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AE414D28-355A-5D39-54E6-4F24DC7B77F9}"/>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551EE414-3CE4-518D-166A-2184AF5B1EF7}"/>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9015779B-1AA9-2603-432C-8D913ABD9CF7}"/>
              </a:ext>
            </a:extLst>
          </p:cNvPr>
          <p:cNvSpPr txBox="1"/>
          <p:nvPr/>
        </p:nvSpPr>
        <p:spPr>
          <a:xfrm>
            <a:off x="3170905" y="873904"/>
            <a:ext cx="3148235" cy="1361911"/>
          </a:xfrm>
          <a:prstGeom prst="rect">
            <a:avLst/>
          </a:prstGeom>
          <a:noFill/>
        </p:spPr>
        <p:txBody>
          <a:bodyPr wrap="square" rtlCol="0">
            <a:spAutoFit/>
          </a:bodyPr>
          <a:lstStyle/>
          <a:p>
            <a:pPr algn="ctr"/>
            <a:r>
              <a:rPr lang="pt-BR" sz="2750" b="1">
                <a:solidFill>
                  <a:schemeClr val="bg1"/>
                </a:solidFill>
                <a:latin typeface="Poppins" panose="00000500000000000000" pitchFamily="2" charset="0"/>
                <a:cs typeface="Poppins" panose="00000500000000000000" pitchFamily="2" charset="0"/>
              </a:rPr>
              <a:t>Mapa da </a:t>
            </a:r>
          </a:p>
          <a:p>
            <a:pPr algn="ctr"/>
            <a:r>
              <a:rPr lang="pt-BR" sz="2750" b="1">
                <a:solidFill>
                  <a:schemeClr val="bg1"/>
                </a:solidFill>
                <a:latin typeface="Poppins" panose="00000500000000000000" pitchFamily="2" charset="0"/>
                <a:cs typeface="Poppins" panose="00000500000000000000" pitchFamily="2" charset="0"/>
              </a:rPr>
              <a:t>Unidade 4   Componente 3</a:t>
            </a:r>
          </a:p>
        </p:txBody>
      </p:sp>
      <p:sp>
        <p:nvSpPr>
          <p:cNvPr id="17" name="Google Shape;329;p3">
            <a:extLst>
              <a:ext uri="{FF2B5EF4-FFF2-40B4-BE49-F238E27FC236}">
                <a16:creationId xmlns:a16="http://schemas.microsoft.com/office/drawing/2014/main" id="{7951FABF-AB4E-6ED1-371B-CE4C25807C84}"/>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Integração com serviços externos e esteiras de entrega</a:t>
            </a:r>
          </a:p>
        </p:txBody>
      </p:sp>
    </p:spTree>
    <p:extLst>
      <p:ext uri="{BB962C8B-B14F-4D97-AF65-F5344CB8AC3E}">
        <p14:creationId xmlns:p14="http://schemas.microsoft.com/office/powerpoint/2010/main" val="3535626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Implementar testes automatizados com </a:t>
            </a:r>
            <a:r>
              <a:rPr lang="pt-BR" dirty="0" err="1">
                <a:latin typeface="Poppins" panose="00000500000000000000" pitchFamily="2" charset="0"/>
                <a:cs typeface="Poppins" panose="00000500000000000000" pitchFamily="2" charset="0"/>
              </a:rPr>
              <a:t>Jest</a:t>
            </a:r>
            <a:r>
              <a:rPr lang="pt-BR" dirty="0">
                <a:latin typeface="Poppins" panose="00000500000000000000" pitchFamily="2" charset="0"/>
                <a:cs typeface="Poppins" panose="00000500000000000000" pitchFamily="2" charset="0"/>
              </a:rPr>
              <a:t> e Cypress.</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Configurar pipelines de CI/CD para automação de </a:t>
            </a:r>
            <a:r>
              <a:rPr lang="pt-BR" dirty="0" err="1">
                <a:latin typeface="Poppins" panose="00000500000000000000" pitchFamily="2" charset="0"/>
                <a:cs typeface="Poppins" panose="00000500000000000000" pitchFamily="2" charset="0"/>
              </a:rPr>
              <a:t>deploys</a:t>
            </a:r>
            <a:r>
              <a:rPr lang="pt-BR" dirty="0">
                <a:latin typeface="Poppins" panose="00000500000000000000" pitchFamily="2" charset="0"/>
                <a:cs typeface="Poppins" panose="00000500000000000000" pitchFamily="2" charset="0"/>
              </a:rPr>
              <a:t>.</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516046"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Desenvolver a persistência ao configurar pipelines.</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5098262"/>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Recurso audiovisual para exibição de vídeos e imagens.</a:t>
            </a:r>
          </a:p>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Caderno, </a:t>
            </a:r>
            <a:r>
              <a:rPr lang="pt-BR" dirty="0">
                <a:latin typeface="Poppins" panose="00000500000000000000" pitchFamily="2" charset="0"/>
                <a:cs typeface="Poppins" panose="00000500000000000000" pitchFamily="2" charset="0"/>
              </a:rPr>
              <a:t>caneta</a:t>
            </a:r>
            <a:r>
              <a:rPr lang="pt-BR" sz="2000" dirty="0">
                <a:latin typeface="Poppins" panose="00000500000000000000" pitchFamily="2" charset="0"/>
                <a:cs typeface="Poppins" panose="00000500000000000000" pitchFamily="2" charset="0"/>
              </a:rPr>
              <a:t>.</a:t>
            </a: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Laboratório de informática.</a:t>
            </a: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Roteiro de Atividade Prática.</a:t>
            </a:r>
          </a:p>
        </p:txBody>
      </p:sp>
    </p:spTree>
    <p:extLst>
      <p:ext uri="{BB962C8B-B14F-4D97-AF65-F5344CB8AC3E}">
        <p14:creationId xmlns:p14="http://schemas.microsoft.com/office/powerpoint/2010/main" val="329333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Espaço Reservado para Texto 42">
            <a:extLst>
              <a:ext uri="{FF2B5EF4-FFF2-40B4-BE49-F238E27FC236}">
                <a16:creationId xmlns:a16="http://schemas.microsoft.com/office/drawing/2014/main" id="{ED977AD9-D788-71CA-520D-A67C9E2F11D4}"/>
              </a:ext>
            </a:extLst>
          </p:cNvPr>
          <p:cNvSpPr>
            <a:spLocks noGrp="1"/>
          </p:cNvSpPr>
          <p:nvPr>
            <p:ph type="body" sz="quarter" idx="10"/>
          </p:nvPr>
        </p:nvSpPr>
        <p:spPr>
          <a:xfrm>
            <a:off x="4286885" y="726140"/>
            <a:ext cx="13180500" cy="1479177"/>
          </a:xfrm>
          <a:prstGeom prst="rect">
            <a:avLst/>
          </a:prstGeom>
        </p:spPr>
        <p:txBody>
          <a:bodyPr>
            <a:normAutofit/>
          </a:bodyPr>
          <a:lstStyle/>
          <a:p>
            <a:r>
              <a:rPr lang="pt-BR" sz="4500" b="1" dirty="0">
                <a:solidFill>
                  <a:srgbClr val="FF161F"/>
                </a:solidFill>
                <a:latin typeface="Poppins" pitchFamily="2" charset="77"/>
                <a:cs typeface="Poppins" pitchFamily="2" charset="77"/>
              </a:rPr>
              <a:t>Testes automatizados com </a:t>
            </a:r>
            <a:r>
              <a:rPr lang="pt-BR" sz="4500" b="1" dirty="0" err="1">
                <a:solidFill>
                  <a:srgbClr val="FF161F"/>
                </a:solidFill>
                <a:latin typeface="Poppins" pitchFamily="2" charset="77"/>
                <a:cs typeface="Poppins" pitchFamily="2" charset="77"/>
              </a:rPr>
              <a:t>Jest</a:t>
            </a:r>
            <a:r>
              <a:rPr lang="pt-BR" sz="4500" b="1" dirty="0">
                <a:solidFill>
                  <a:srgbClr val="FF161F"/>
                </a:solidFill>
                <a:latin typeface="Poppins" pitchFamily="2" charset="77"/>
                <a:cs typeface="Poppins" pitchFamily="2" charset="77"/>
              </a:rPr>
              <a:t> e Cypress</a:t>
            </a:r>
          </a:p>
          <a:p>
            <a:pPr lvl="0"/>
            <a:endParaRPr lang="pt-BR" sz="4500" b="1" dirty="0">
              <a:solidFill>
                <a:srgbClr val="FF161F"/>
              </a:solidFill>
              <a:latin typeface="Poppins" pitchFamily="2" charset="77"/>
              <a:cs typeface="Poppins" pitchFamily="2" charset="77"/>
            </a:endParaRPr>
          </a:p>
        </p:txBody>
      </p:sp>
      <p:sp>
        <p:nvSpPr>
          <p:cNvPr id="24" name="Espaço Reservado para Texto 42">
            <a:extLst>
              <a:ext uri="{FF2B5EF4-FFF2-40B4-BE49-F238E27FC236}">
                <a16:creationId xmlns:a16="http://schemas.microsoft.com/office/drawing/2014/main" id="{87F3C3DB-7926-FC85-BAC8-B57EFF1FD581}"/>
              </a:ext>
            </a:extLst>
          </p:cNvPr>
          <p:cNvSpPr>
            <a:spLocks noGrp="1"/>
          </p:cNvSpPr>
          <p:nvPr>
            <p:ph type="body" sz="quarter" idx="12"/>
          </p:nvPr>
        </p:nvSpPr>
        <p:spPr>
          <a:xfrm>
            <a:off x="1417929" y="6160793"/>
            <a:ext cx="2378590" cy="642937"/>
          </a:xfrm>
          <a:prstGeom prst="rect">
            <a:avLst/>
          </a:prstGeom>
        </p:spPr>
        <p:txBody>
          <a:bodyPr/>
          <a:lstStyle/>
          <a:p>
            <a:pPr lvl="0"/>
            <a:r>
              <a:rPr lang="pt-BR" sz="1800" b="1" dirty="0">
                <a:latin typeface="Poppins" pitchFamily="2" charset="77"/>
                <a:cs typeface="Poppins" pitchFamily="2" charset="77"/>
              </a:rPr>
              <a:t>46  minutos</a:t>
            </a:r>
          </a:p>
        </p:txBody>
      </p:sp>
      <p:pic>
        <p:nvPicPr>
          <p:cNvPr id="5" name="Google Shape;578;p38">
            <a:extLst>
              <a:ext uri="{FF2B5EF4-FFF2-40B4-BE49-F238E27FC236}">
                <a16:creationId xmlns:a16="http://schemas.microsoft.com/office/drawing/2014/main" id="{897F6E87-64D3-F33F-643C-025FF0491CCB}"/>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766349" y="6072517"/>
            <a:ext cx="457727" cy="457727"/>
          </a:xfrm>
          <a:prstGeom prst="rect">
            <a:avLst/>
          </a:prstGeom>
          <a:noFill/>
          <a:ln>
            <a:noFill/>
          </a:ln>
        </p:spPr>
      </p:pic>
      <p:sp>
        <p:nvSpPr>
          <p:cNvPr id="49" name="Google Shape;1317;p91">
            <a:extLst>
              <a:ext uri="{FF2B5EF4-FFF2-40B4-BE49-F238E27FC236}">
                <a16:creationId xmlns:a16="http://schemas.microsoft.com/office/drawing/2014/main" id="{1BC0EBCE-E3D0-7165-25B6-03286128801C}"/>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Caneta.</a:t>
            </a:r>
          </a:p>
        </p:txBody>
      </p:sp>
      <p:sp>
        <p:nvSpPr>
          <p:cNvPr id="50" name="Google Shape;1318;p91">
            <a:extLst>
              <a:ext uri="{FF2B5EF4-FFF2-40B4-BE49-F238E27FC236}">
                <a16:creationId xmlns:a16="http://schemas.microsoft.com/office/drawing/2014/main" id="{92F0FEAD-F656-EF85-5BC3-96BA41CF2289}"/>
              </a:ext>
            </a:extLst>
          </p:cNvPr>
          <p:cNvSpPr txBox="1"/>
          <p:nvPr/>
        </p:nvSpPr>
        <p:spPr>
          <a:xfrm>
            <a:off x="11100000" y="4513907"/>
            <a:ext cx="5627582" cy="317005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a atividade  proposta no roteiro.​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a atividade prática, realizem esboços no papel para definir sua intenção e o resultado esperado.​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13" name="Espaço Reservado para Texto 42">
            <a:extLst>
              <a:ext uri="{FF2B5EF4-FFF2-40B4-BE49-F238E27FC236}">
                <a16:creationId xmlns:a16="http://schemas.microsoft.com/office/drawing/2014/main" id="{DCD5CDF5-DB76-8764-35AB-CB6B3F5C3660}"/>
              </a:ext>
            </a:extLst>
          </p:cNvPr>
          <p:cNvSpPr txBox="1">
            <a:spLocks/>
          </p:cNvSpPr>
          <p:nvPr/>
        </p:nvSpPr>
        <p:spPr>
          <a:xfrm>
            <a:off x="1388968" y="7362685"/>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1800" b="1" dirty="0">
                <a:latin typeface="Poppins" pitchFamily="2" charset="77"/>
                <a:cs typeface="Poppins" pitchFamily="2" charset="77"/>
              </a:rPr>
              <a:t>Em duplas</a:t>
            </a:r>
          </a:p>
        </p:txBody>
      </p:sp>
      <p:pic>
        <p:nvPicPr>
          <p:cNvPr id="14" name="Gráfico 13">
            <a:extLst>
              <a:ext uri="{FF2B5EF4-FFF2-40B4-BE49-F238E27FC236}">
                <a16:creationId xmlns:a16="http://schemas.microsoft.com/office/drawing/2014/main" id="{A1F912F0-7891-651D-39FF-B4A43A71DF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349" y="7342046"/>
            <a:ext cx="504825" cy="457200"/>
          </a:xfrm>
          <a:prstGeom prst="rect">
            <a:avLst/>
          </a:prstGeom>
        </p:spPr>
      </p:pic>
    </p:spTree>
    <p:extLst>
      <p:ext uri="{BB962C8B-B14F-4D97-AF65-F5344CB8AC3E}">
        <p14:creationId xmlns:p14="http://schemas.microsoft.com/office/powerpoint/2010/main" val="4209955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2" name="Google Shape;849;p64">
            <a:extLst>
              <a:ext uri="{FF2B5EF4-FFF2-40B4-BE49-F238E27FC236}">
                <a16:creationId xmlns:a16="http://schemas.microsoft.com/office/drawing/2014/main" id="{EA35769D-5E89-8BEC-A209-BE3F409112CD}"/>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A54E57C6-161C-AAD7-A54C-D279F544769B}"/>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 name="Google Shape;852;p64">
            <a:extLst>
              <a:ext uri="{FF2B5EF4-FFF2-40B4-BE49-F238E27FC236}">
                <a16:creationId xmlns:a16="http://schemas.microsoft.com/office/drawing/2014/main" id="{B7F767F6-4174-2AFB-8B12-FB0DC79F474E}"/>
              </a:ext>
            </a:extLst>
          </p:cNvPr>
          <p:cNvSpPr txBox="1"/>
          <p:nvPr/>
        </p:nvSpPr>
        <p:spPr>
          <a:xfrm>
            <a:off x="4993990" y="6544405"/>
            <a:ext cx="4183800"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Realizar testes unitários para validar a lógica do código.</a:t>
            </a:r>
            <a:endParaRPr lang="pt-BR" sz="2400" b="1" i="0" u="none" strike="noStrike" cap="none" dirty="0">
              <a:solidFill>
                <a:schemeClr val="bg1"/>
              </a:solidFill>
              <a:latin typeface="Arial"/>
              <a:ea typeface="Arial"/>
              <a:cs typeface="Arial"/>
              <a:sym typeface="Arial"/>
            </a:endParaRP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553941" y="6520681"/>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Testar interações do usuário com a interface gráfica.</a:t>
            </a:r>
          </a:p>
        </p:txBody>
      </p:sp>
      <p:sp>
        <p:nvSpPr>
          <p:cNvPr id="18" name="Google Shape;855;p64">
            <a:extLst>
              <a:ext uri="{FF2B5EF4-FFF2-40B4-BE49-F238E27FC236}">
                <a16:creationId xmlns:a16="http://schemas.microsoft.com/office/drawing/2014/main" id="{E56D8818-40F0-C689-0CEF-D7AE8A161C1B}"/>
              </a:ext>
            </a:extLst>
          </p:cNvPr>
          <p:cNvSpPr txBox="1"/>
          <p:nvPr/>
        </p:nvSpPr>
        <p:spPr>
          <a:xfrm>
            <a:off x="4993990" y="5050024"/>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Validar a aparência de elementos da interface.</a:t>
            </a:r>
            <a:endParaRPr lang="pt-BR" sz="2400" b="1" i="0" u="none" strike="noStrike" cap="none" dirty="0">
              <a:solidFill>
                <a:schemeClr val="bg1"/>
              </a:solidFill>
              <a:latin typeface="Arial"/>
              <a:ea typeface="Arial"/>
              <a:cs typeface="Arial"/>
              <a:sym typeface="Arial"/>
            </a:endParaRPr>
          </a:p>
        </p:txBody>
      </p:sp>
      <p:sp>
        <p:nvSpPr>
          <p:cNvPr id="19" name="Google Shape;856;p64">
            <a:extLst>
              <a:ext uri="{FF2B5EF4-FFF2-40B4-BE49-F238E27FC236}">
                <a16:creationId xmlns:a16="http://schemas.microsoft.com/office/drawing/2014/main" id="{8801C580-7A6F-405E-8463-C89B1F60C9B1}"/>
              </a:ext>
            </a:extLst>
          </p:cNvPr>
          <p:cNvSpPr txBox="1"/>
          <p:nvPr/>
        </p:nvSpPr>
        <p:spPr>
          <a:xfrm>
            <a:off x="10553941" y="4891051"/>
            <a:ext cx="4183800"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Executar testes de integração entre diferentes componentes.</a:t>
            </a:r>
            <a:endParaRPr lang="pt-BR" sz="2400" b="1" i="0" u="none" strike="noStrike" cap="none" dirty="0">
              <a:solidFill>
                <a:schemeClr val="bg1"/>
              </a:solidFill>
              <a:latin typeface="Arial"/>
              <a:ea typeface="Arial"/>
              <a:cs typeface="Arial"/>
              <a:sym typeface="Arial"/>
            </a:endParaRP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BF57810-9FEF-4033-D5D3-F67A1276D007}"/>
              </a:ext>
            </a:extLst>
          </p:cNvPr>
          <p:cNvSpPr>
            <a:spLocks noGrp="1"/>
          </p:cNvSpPr>
          <p:nvPr>
            <p:ph type="body" sz="quarter" idx="10"/>
          </p:nvPr>
        </p:nvSpPr>
        <p:spPr>
          <a:xfrm>
            <a:off x="4539511" y="1968696"/>
            <a:ext cx="10660731" cy="1315842"/>
          </a:xfrm>
          <a:prstGeom prst="rect">
            <a:avLst/>
          </a:prstGeom>
        </p:spPr>
        <p:txBody>
          <a:bodyPr>
            <a:norm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o propósito principal do </a:t>
            </a:r>
            <a:r>
              <a:rPr lang="pt-BR" dirty="0" err="1"/>
              <a:t>Jest</a:t>
            </a:r>
            <a:r>
              <a:rPr lang="pt-BR" dirty="0"/>
              <a:t> em um projeto de desenvolvimento?</a:t>
            </a:r>
          </a:p>
          <a:p>
            <a:pPr lvl="4"/>
            <a:endParaRPr lang="pt-BR" dirty="0"/>
          </a:p>
        </p:txBody>
      </p:sp>
    </p:spTree>
    <p:extLst>
      <p:ext uri="{BB962C8B-B14F-4D97-AF65-F5344CB8AC3E}">
        <p14:creationId xmlns:p14="http://schemas.microsoft.com/office/powerpoint/2010/main" val="363341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90901B14-1D82-3DB6-97E1-CF4CCD2ECC31}"/>
              </a:ext>
            </a:extLst>
          </p:cNvPr>
          <p:cNvSpPr/>
          <p:nvPr/>
        </p:nvSpPr>
        <p:spPr>
          <a:xfrm>
            <a:off x="15363042" y="667188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8" name="Google Shape;1435;p98">
            <a:extLst>
              <a:ext uri="{FF2B5EF4-FFF2-40B4-BE49-F238E27FC236}">
                <a16:creationId xmlns:a16="http://schemas.microsoft.com/office/drawing/2014/main" id="{9FD76F00-80C9-C32C-B707-9B706920B70A}"/>
              </a:ext>
            </a:extLst>
          </p:cNvPr>
          <p:cNvSpPr/>
          <p:nvPr/>
        </p:nvSpPr>
        <p:spPr>
          <a:xfrm>
            <a:off x="3656207" y="5100104"/>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9" name="Google Shape;1436;p98">
            <a:extLst>
              <a:ext uri="{FF2B5EF4-FFF2-40B4-BE49-F238E27FC236}">
                <a16:creationId xmlns:a16="http://schemas.microsoft.com/office/drawing/2014/main" id="{E013079C-2188-FD91-E8B8-894B37166A33}"/>
              </a:ext>
            </a:extLst>
          </p:cNvPr>
          <p:cNvSpPr/>
          <p:nvPr/>
        </p:nvSpPr>
        <p:spPr>
          <a:xfrm>
            <a:off x="15363042" y="504563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10" name="Google Shape;1437;p98">
            <a:extLst>
              <a:ext uri="{FF2B5EF4-FFF2-40B4-BE49-F238E27FC236}">
                <a16:creationId xmlns:a16="http://schemas.microsoft.com/office/drawing/2014/main" id="{93394F96-66FC-0DDF-4A6C-BA980A73178C}"/>
              </a:ext>
            </a:extLst>
          </p:cNvPr>
          <p:cNvSpPr/>
          <p:nvPr/>
        </p:nvSpPr>
        <p:spPr>
          <a:xfrm rot="-3043640">
            <a:off x="3775061" y="6811962"/>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24" name="Google Shape;852;p64">
            <a:extLst>
              <a:ext uri="{FF2B5EF4-FFF2-40B4-BE49-F238E27FC236}">
                <a16:creationId xmlns:a16="http://schemas.microsoft.com/office/drawing/2014/main" id="{205B7C06-884B-8D89-172C-F8AC8F4C71D5}"/>
              </a:ext>
            </a:extLst>
          </p:cNvPr>
          <p:cNvSpPr txBox="1"/>
          <p:nvPr/>
        </p:nvSpPr>
        <p:spPr>
          <a:xfrm>
            <a:off x="4985898" y="6540589"/>
            <a:ext cx="4183800"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Realizar testes unitários para validar a lógica do código.</a:t>
            </a:r>
            <a:endParaRPr lang="pt-BR" sz="2400" b="1" i="0" u="none" strike="noStrike" cap="none" dirty="0">
              <a:solidFill>
                <a:schemeClr val="bg1"/>
              </a:solidFill>
              <a:latin typeface="Arial"/>
              <a:ea typeface="Arial"/>
              <a:cs typeface="Arial"/>
              <a:sym typeface="Arial"/>
            </a:endParaRPr>
          </a:p>
        </p:txBody>
      </p:sp>
      <p:sp>
        <p:nvSpPr>
          <p:cNvPr id="25" name="Google Shape;854;p64">
            <a:extLst>
              <a:ext uri="{FF2B5EF4-FFF2-40B4-BE49-F238E27FC236}">
                <a16:creationId xmlns:a16="http://schemas.microsoft.com/office/drawing/2014/main" id="{C6BD1F32-06AC-32DA-A9CF-79F6D532A052}"/>
              </a:ext>
            </a:extLst>
          </p:cNvPr>
          <p:cNvSpPr txBox="1"/>
          <p:nvPr/>
        </p:nvSpPr>
        <p:spPr>
          <a:xfrm>
            <a:off x="10553941" y="6520681"/>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Testar interações do usuário com a interface gráfica.</a:t>
            </a:r>
          </a:p>
        </p:txBody>
      </p:sp>
      <p:sp>
        <p:nvSpPr>
          <p:cNvPr id="26" name="Google Shape;855;p64">
            <a:extLst>
              <a:ext uri="{FF2B5EF4-FFF2-40B4-BE49-F238E27FC236}">
                <a16:creationId xmlns:a16="http://schemas.microsoft.com/office/drawing/2014/main" id="{6FD6EE11-811E-69E9-36EE-F73F752B7210}"/>
              </a:ext>
            </a:extLst>
          </p:cNvPr>
          <p:cNvSpPr txBox="1"/>
          <p:nvPr/>
        </p:nvSpPr>
        <p:spPr>
          <a:xfrm>
            <a:off x="4985898" y="5098527"/>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Validar a aparência de elementos da interface.</a:t>
            </a:r>
            <a:endParaRPr lang="pt-BR" sz="2400" b="1" i="0" u="none" strike="noStrike" cap="none" dirty="0">
              <a:solidFill>
                <a:schemeClr val="bg1"/>
              </a:solidFill>
              <a:latin typeface="Arial"/>
              <a:ea typeface="Arial"/>
              <a:cs typeface="Arial"/>
              <a:sym typeface="Arial"/>
            </a:endParaRPr>
          </a:p>
        </p:txBody>
      </p:sp>
      <p:sp>
        <p:nvSpPr>
          <p:cNvPr id="27" name="Google Shape;856;p64">
            <a:extLst>
              <a:ext uri="{FF2B5EF4-FFF2-40B4-BE49-F238E27FC236}">
                <a16:creationId xmlns:a16="http://schemas.microsoft.com/office/drawing/2014/main" id="{C197F946-4509-80FA-E43F-DF69AE5E65B0}"/>
              </a:ext>
            </a:extLst>
          </p:cNvPr>
          <p:cNvSpPr txBox="1"/>
          <p:nvPr/>
        </p:nvSpPr>
        <p:spPr>
          <a:xfrm>
            <a:off x="10553941" y="4891051"/>
            <a:ext cx="4183800"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Executar testes de integração entre diferentes componentes.</a:t>
            </a:r>
            <a:endParaRPr lang="pt-BR" sz="2400" b="1" i="0" u="none" strike="noStrike" cap="none" dirty="0">
              <a:solidFill>
                <a:schemeClr val="bg1"/>
              </a:solidFill>
              <a:latin typeface="Arial"/>
              <a:ea typeface="Arial"/>
              <a:cs typeface="Arial"/>
              <a:sym typeface="Arial"/>
            </a:endParaRPr>
          </a:p>
        </p:txBody>
      </p:sp>
      <p:sp>
        <p:nvSpPr>
          <p:cNvPr id="11" name="Espaço Reservado para Texto 10">
            <a:extLst>
              <a:ext uri="{FF2B5EF4-FFF2-40B4-BE49-F238E27FC236}">
                <a16:creationId xmlns:a16="http://schemas.microsoft.com/office/drawing/2014/main" id="{F986F8AF-CAA8-EA23-4A6D-C95901D6854F}"/>
              </a:ext>
            </a:extLst>
          </p:cNvPr>
          <p:cNvSpPr>
            <a:spLocks noGrp="1"/>
          </p:cNvSpPr>
          <p:nvPr>
            <p:ph type="body" sz="quarter" idx="10"/>
          </p:nvPr>
        </p:nvSpPr>
        <p:spPr>
          <a:xfrm>
            <a:off x="4539511" y="2101204"/>
            <a:ext cx="10660731" cy="1416285"/>
          </a:xfrm>
          <a:prstGeom prst="rect">
            <a:avLst/>
          </a:prstGeom>
        </p:spPr>
        <p:txBody>
          <a:bodyPr>
            <a:norm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o propósito principal do </a:t>
            </a:r>
            <a:r>
              <a:rPr lang="pt-BR" dirty="0" err="1"/>
              <a:t>Jest</a:t>
            </a:r>
            <a:r>
              <a:rPr lang="pt-BR" dirty="0"/>
              <a:t> em um projeto de desenvolvimento?</a:t>
            </a:r>
          </a:p>
          <a:p>
            <a:pPr lvl="4"/>
            <a:endParaRPr lang="pt-BR" dirty="0"/>
          </a:p>
        </p:txBody>
      </p:sp>
    </p:spTree>
    <p:extLst>
      <p:ext uri="{BB962C8B-B14F-4D97-AF65-F5344CB8AC3E}">
        <p14:creationId xmlns:p14="http://schemas.microsoft.com/office/powerpoint/2010/main" val="348024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3" name="Google Shape;850;p64">
            <a:extLst>
              <a:ext uri="{FF2B5EF4-FFF2-40B4-BE49-F238E27FC236}">
                <a16:creationId xmlns:a16="http://schemas.microsoft.com/office/drawing/2014/main" id="{A54E57C6-161C-AAD7-A54C-D279F544769B}"/>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algn="ctr"/>
            <a:endParaRPr lang="pt-BR" sz="2400" b="1" dirty="0">
              <a:solidFill>
                <a:schemeClr val="bg1"/>
              </a:solidFill>
              <a:latin typeface="Poppins" panose="00000500000000000000" pitchFamily="2" charset="0"/>
              <a:cs typeface="Poppins" panose="00000500000000000000" pitchFamily="2" charset="0"/>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 name="Google Shape;852;p64">
            <a:extLst>
              <a:ext uri="{FF2B5EF4-FFF2-40B4-BE49-F238E27FC236}">
                <a16:creationId xmlns:a16="http://schemas.microsoft.com/office/drawing/2014/main" id="{B7F767F6-4174-2AFB-8B12-FB0DC79F474E}"/>
              </a:ext>
            </a:extLst>
          </p:cNvPr>
          <p:cNvSpPr txBox="1"/>
          <p:nvPr/>
        </p:nvSpPr>
        <p:spPr>
          <a:xfrm>
            <a:off x="4985898" y="6704711"/>
            <a:ext cx="4183800" cy="738664"/>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Gera um novo arquivo de configuração para o </a:t>
            </a:r>
            <a:r>
              <a:rPr lang="pt-BR" sz="2400" b="1" dirty="0" err="1">
                <a:solidFill>
                  <a:schemeClr val="bg1"/>
                </a:solidFill>
                <a:latin typeface="Poppins" panose="00000500000000000000" pitchFamily="2" charset="0"/>
                <a:cs typeface="Poppins" panose="00000500000000000000" pitchFamily="2" charset="0"/>
              </a:rPr>
              <a:t>Jest</a:t>
            </a:r>
            <a:r>
              <a:rPr lang="pt-BR" sz="2400" b="1" dirty="0">
                <a:solidFill>
                  <a:schemeClr val="bg1"/>
                </a:solidFill>
                <a:latin typeface="Poppins" panose="00000500000000000000" pitchFamily="2" charset="0"/>
                <a:cs typeface="Poppins" panose="00000500000000000000" pitchFamily="2" charset="0"/>
              </a:rPr>
              <a:t>.</a:t>
            </a: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553941" y="6497235"/>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Inicia o servidor de testes para rodar os testes em tempo real.</a:t>
            </a: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2" name="Google Shape;849;p64">
            <a:extLst>
              <a:ext uri="{FF2B5EF4-FFF2-40B4-BE49-F238E27FC236}">
                <a16:creationId xmlns:a16="http://schemas.microsoft.com/office/drawing/2014/main" id="{95ACBE84-BB43-60DF-9F68-F160D29727FC}"/>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chemeClr val="bg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 name="Espaço Reservado para Texto 10">
            <a:extLst>
              <a:ext uri="{FF2B5EF4-FFF2-40B4-BE49-F238E27FC236}">
                <a16:creationId xmlns:a16="http://schemas.microsoft.com/office/drawing/2014/main" id="{C3CBE171-C9FF-52DD-DA89-4B733CDFC25D}"/>
              </a:ext>
            </a:extLst>
          </p:cNvPr>
          <p:cNvSpPr>
            <a:spLocks noGrp="1"/>
          </p:cNvSpPr>
          <p:nvPr>
            <p:ph type="body" sz="quarter" idx="10"/>
          </p:nvPr>
        </p:nvSpPr>
        <p:spPr>
          <a:xfrm>
            <a:off x="4539582" y="2169658"/>
            <a:ext cx="10660731" cy="1233695"/>
          </a:xfrm>
          <a:prstGeom prst="rect">
            <a:avLst/>
          </a:prstGeom>
        </p:spPr>
        <p:txBody>
          <a:bodyPr>
            <a:normAutofit fontScale="92500"/>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4000" b="1" dirty="0">
                <a:latin typeface="Poppins" panose="00000500000000000000" pitchFamily="2" charset="0"/>
                <a:cs typeface="Poppins" panose="00000500000000000000" pitchFamily="2" charset="0"/>
              </a:rPr>
              <a:t>O que o comando </a:t>
            </a:r>
            <a:r>
              <a:rPr lang="pt-BR" sz="4000" b="1" dirty="0" err="1">
                <a:latin typeface="Poppins" panose="00000500000000000000" pitchFamily="2" charset="0"/>
                <a:cs typeface="Poppins" panose="00000500000000000000" pitchFamily="2" charset="0"/>
              </a:rPr>
              <a:t>npm</a:t>
            </a:r>
            <a:r>
              <a:rPr lang="pt-BR" sz="4000" b="1" dirty="0">
                <a:latin typeface="Poppins" panose="00000500000000000000" pitchFamily="2" charset="0"/>
                <a:cs typeface="Poppins" panose="00000500000000000000" pitchFamily="2" charset="0"/>
              </a:rPr>
              <a:t> </a:t>
            </a:r>
            <a:r>
              <a:rPr lang="pt-BR" sz="4000" b="1" dirty="0" err="1">
                <a:latin typeface="Poppins" panose="00000500000000000000" pitchFamily="2" charset="0"/>
                <a:cs typeface="Poppins" panose="00000500000000000000" pitchFamily="2" charset="0"/>
              </a:rPr>
              <a:t>test</a:t>
            </a:r>
            <a:r>
              <a:rPr lang="pt-BR" sz="4000" b="1" dirty="0">
                <a:latin typeface="Poppins" panose="00000500000000000000" pitchFamily="2" charset="0"/>
                <a:cs typeface="Poppins" panose="00000500000000000000" pitchFamily="2" charset="0"/>
              </a:rPr>
              <a:t> -- --</a:t>
            </a:r>
            <a:r>
              <a:rPr lang="pt-BR" sz="4000" b="1" dirty="0" err="1">
                <a:latin typeface="Poppins" panose="00000500000000000000" pitchFamily="2" charset="0"/>
                <a:cs typeface="Poppins" panose="00000500000000000000" pitchFamily="2" charset="0"/>
              </a:rPr>
              <a:t>coverage</a:t>
            </a:r>
            <a:r>
              <a:rPr lang="pt-BR" sz="4000" b="1" dirty="0">
                <a:latin typeface="Poppins" panose="00000500000000000000" pitchFamily="2" charset="0"/>
                <a:cs typeface="Poppins" panose="00000500000000000000" pitchFamily="2" charset="0"/>
              </a:rPr>
              <a:t> faz ao rodar os testes com </a:t>
            </a:r>
            <a:r>
              <a:rPr lang="pt-BR" sz="4000" b="1" dirty="0" err="1">
                <a:latin typeface="Poppins" panose="00000500000000000000" pitchFamily="2" charset="0"/>
                <a:cs typeface="Poppins" panose="00000500000000000000" pitchFamily="2" charset="0"/>
              </a:rPr>
              <a:t>Jest</a:t>
            </a:r>
            <a:r>
              <a:rPr lang="pt-BR" sz="4000" b="1" dirty="0">
                <a:latin typeface="Poppins" panose="00000500000000000000" pitchFamily="2" charset="0"/>
                <a:cs typeface="Poppins" panose="00000500000000000000" pitchFamily="2" charset="0"/>
              </a:rPr>
              <a:t>?</a:t>
            </a:r>
          </a:p>
          <a:p>
            <a:pPr lvl="4"/>
            <a:endParaRPr lang="pt-BR" dirty="0"/>
          </a:p>
        </p:txBody>
      </p:sp>
      <p:sp>
        <p:nvSpPr>
          <p:cNvPr id="18" name="Google Shape;856;p64">
            <a:extLst>
              <a:ext uri="{FF2B5EF4-FFF2-40B4-BE49-F238E27FC236}">
                <a16:creationId xmlns:a16="http://schemas.microsoft.com/office/drawing/2014/main" id="{8DBB1540-1EBA-54CC-A85D-5F3D208258DD}"/>
              </a:ext>
            </a:extLst>
          </p:cNvPr>
          <p:cNvSpPr txBox="1"/>
          <p:nvPr/>
        </p:nvSpPr>
        <p:spPr>
          <a:xfrm>
            <a:off x="10553941" y="4898962"/>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Executa os testes apenas em arquivos com alterações.</a:t>
            </a:r>
          </a:p>
        </p:txBody>
      </p:sp>
      <p:sp>
        <p:nvSpPr>
          <p:cNvPr id="19" name="CaixaDeTexto 18">
            <a:extLst>
              <a:ext uri="{FF2B5EF4-FFF2-40B4-BE49-F238E27FC236}">
                <a16:creationId xmlns:a16="http://schemas.microsoft.com/office/drawing/2014/main" id="{A5B5055A-4A1E-9606-D80A-5B344E531E47}"/>
              </a:ext>
            </a:extLst>
          </p:cNvPr>
          <p:cNvSpPr txBox="1"/>
          <p:nvPr/>
        </p:nvSpPr>
        <p:spPr>
          <a:xfrm>
            <a:off x="4569556" y="4871855"/>
            <a:ext cx="5108802" cy="1200329"/>
          </a:xfrm>
          <a:prstGeom prst="rect">
            <a:avLst/>
          </a:prstGeom>
          <a:noFill/>
          <a:ln>
            <a:noFill/>
          </a:ln>
        </p:spPr>
        <p:txBody>
          <a:bodyPr wrap="square">
            <a:spAutoFit/>
          </a:bodyPr>
          <a:lstStyle/>
          <a:p>
            <a:pPr algn="ctr"/>
            <a:r>
              <a:rPr lang="pt-BR" sz="2400" b="1" dirty="0">
                <a:solidFill>
                  <a:schemeClr val="bg1"/>
                </a:solidFill>
                <a:latin typeface="Poppins" panose="00000500000000000000" pitchFamily="2" charset="0"/>
                <a:cs typeface="Poppins" panose="00000500000000000000" pitchFamily="2" charset="0"/>
              </a:rPr>
              <a:t>Executa os testes e gera um relatório de cobertura de código.</a:t>
            </a:r>
          </a:p>
        </p:txBody>
      </p:sp>
    </p:spTree>
    <p:extLst>
      <p:ext uri="{BB962C8B-B14F-4D97-AF65-F5344CB8AC3E}">
        <p14:creationId xmlns:p14="http://schemas.microsoft.com/office/powerpoint/2010/main" val="238326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90901B14-1D82-3DB6-97E1-CF4CCD2ECC31}"/>
              </a:ext>
            </a:extLst>
          </p:cNvPr>
          <p:cNvSpPr/>
          <p:nvPr/>
        </p:nvSpPr>
        <p:spPr>
          <a:xfrm>
            <a:off x="3672644" y="672467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8" name="Google Shape;1435;p98">
            <a:extLst>
              <a:ext uri="{FF2B5EF4-FFF2-40B4-BE49-F238E27FC236}">
                <a16:creationId xmlns:a16="http://schemas.microsoft.com/office/drawing/2014/main" id="{9FD76F00-80C9-C32C-B707-9B706920B70A}"/>
              </a:ext>
            </a:extLst>
          </p:cNvPr>
          <p:cNvSpPr/>
          <p:nvPr/>
        </p:nvSpPr>
        <p:spPr>
          <a:xfrm>
            <a:off x="15363042" y="672467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9" name="Google Shape;1436;p98">
            <a:extLst>
              <a:ext uri="{FF2B5EF4-FFF2-40B4-BE49-F238E27FC236}">
                <a16:creationId xmlns:a16="http://schemas.microsoft.com/office/drawing/2014/main" id="{E013079C-2188-FD91-E8B8-894B37166A33}"/>
              </a:ext>
            </a:extLst>
          </p:cNvPr>
          <p:cNvSpPr/>
          <p:nvPr/>
        </p:nvSpPr>
        <p:spPr>
          <a:xfrm>
            <a:off x="15363042" y="504563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10" name="Google Shape;1437;p98">
            <a:extLst>
              <a:ext uri="{FF2B5EF4-FFF2-40B4-BE49-F238E27FC236}">
                <a16:creationId xmlns:a16="http://schemas.microsoft.com/office/drawing/2014/main" id="{93394F96-66FC-0DDF-4A6C-BA980A73178C}"/>
              </a:ext>
            </a:extLst>
          </p:cNvPr>
          <p:cNvSpPr/>
          <p:nvPr/>
        </p:nvSpPr>
        <p:spPr>
          <a:xfrm rot="-3043640">
            <a:off x="3689936" y="5319474"/>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33" name="Google Shape;852;p64">
            <a:extLst>
              <a:ext uri="{FF2B5EF4-FFF2-40B4-BE49-F238E27FC236}">
                <a16:creationId xmlns:a16="http://schemas.microsoft.com/office/drawing/2014/main" id="{C0E3F8F4-7F4A-D45B-0E4D-1F030AEF27FC}"/>
              </a:ext>
            </a:extLst>
          </p:cNvPr>
          <p:cNvSpPr txBox="1"/>
          <p:nvPr/>
        </p:nvSpPr>
        <p:spPr>
          <a:xfrm>
            <a:off x="4985898" y="6704711"/>
            <a:ext cx="4183800" cy="738664"/>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Gera um novo arquivo de configuração para o </a:t>
            </a:r>
            <a:r>
              <a:rPr lang="pt-BR" sz="2400" b="1" dirty="0" err="1">
                <a:solidFill>
                  <a:schemeClr val="bg1"/>
                </a:solidFill>
                <a:latin typeface="Poppins" panose="00000500000000000000" pitchFamily="2" charset="0"/>
                <a:cs typeface="Poppins" panose="00000500000000000000" pitchFamily="2" charset="0"/>
              </a:rPr>
              <a:t>Jest</a:t>
            </a:r>
            <a:r>
              <a:rPr lang="pt-BR" sz="2400" b="1" dirty="0">
                <a:solidFill>
                  <a:schemeClr val="bg1"/>
                </a:solidFill>
                <a:latin typeface="Poppins" panose="00000500000000000000" pitchFamily="2" charset="0"/>
                <a:cs typeface="Poppins" panose="00000500000000000000" pitchFamily="2" charset="0"/>
              </a:rPr>
              <a:t>.</a:t>
            </a:r>
          </a:p>
        </p:txBody>
      </p:sp>
      <p:sp>
        <p:nvSpPr>
          <p:cNvPr id="34" name="Google Shape;854;p64">
            <a:extLst>
              <a:ext uri="{FF2B5EF4-FFF2-40B4-BE49-F238E27FC236}">
                <a16:creationId xmlns:a16="http://schemas.microsoft.com/office/drawing/2014/main" id="{92114CD8-4267-75FB-669A-3629B9C163AE}"/>
              </a:ext>
            </a:extLst>
          </p:cNvPr>
          <p:cNvSpPr txBox="1"/>
          <p:nvPr/>
        </p:nvSpPr>
        <p:spPr>
          <a:xfrm>
            <a:off x="10553941" y="6497235"/>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Inicia o servidor de testes para rodar os testes em tempo real.</a:t>
            </a:r>
          </a:p>
        </p:txBody>
      </p:sp>
      <p:sp>
        <p:nvSpPr>
          <p:cNvPr id="36" name="Google Shape;856;p64">
            <a:extLst>
              <a:ext uri="{FF2B5EF4-FFF2-40B4-BE49-F238E27FC236}">
                <a16:creationId xmlns:a16="http://schemas.microsoft.com/office/drawing/2014/main" id="{8DBB1540-1EBA-54CC-A85D-5F3D208258DD}"/>
              </a:ext>
            </a:extLst>
          </p:cNvPr>
          <p:cNvSpPr txBox="1"/>
          <p:nvPr/>
        </p:nvSpPr>
        <p:spPr>
          <a:xfrm>
            <a:off x="10553941" y="4898962"/>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Executa os testes apenas em arquivos com alterações.</a:t>
            </a:r>
          </a:p>
        </p:txBody>
      </p:sp>
      <p:sp>
        <p:nvSpPr>
          <p:cNvPr id="37" name="Espaço Reservado para Texto 10">
            <a:extLst>
              <a:ext uri="{FF2B5EF4-FFF2-40B4-BE49-F238E27FC236}">
                <a16:creationId xmlns:a16="http://schemas.microsoft.com/office/drawing/2014/main" id="{9180082E-93F8-5EB0-6902-126B71BFBF0D}"/>
              </a:ext>
            </a:extLst>
          </p:cNvPr>
          <p:cNvSpPr>
            <a:spLocks noGrp="1"/>
          </p:cNvSpPr>
          <p:nvPr>
            <p:ph type="body" sz="quarter" idx="10"/>
          </p:nvPr>
        </p:nvSpPr>
        <p:spPr>
          <a:xfrm>
            <a:off x="4539582" y="2169658"/>
            <a:ext cx="10660731" cy="1233695"/>
          </a:xfrm>
          <a:prstGeom prst="rect">
            <a:avLst/>
          </a:prstGeom>
        </p:spPr>
        <p:txBody>
          <a:bodyPr>
            <a:normAutofit fontScale="92500"/>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4000" b="1" dirty="0">
                <a:latin typeface="Poppins" panose="00000500000000000000" pitchFamily="2" charset="0"/>
                <a:cs typeface="Poppins" panose="00000500000000000000" pitchFamily="2" charset="0"/>
              </a:rPr>
              <a:t>O que o comando </a:t>
            </a:r>
            <a:r>
              <a:rPr lang="pt-BR" sz="4000" b="1" dirty="0" err="1">
                <a:latin typeface="Poppins" panose="00000500000000000000" pitchFamily="2" charset="0"/>
                <a:cs typeface="Poppins" panose="00000500000000000000" pitchFamily="2" charset="0"/>
              </a:rPr>
              <a:t>npm</a:t>
            </a:r>
            <a:r>
              <a:rPr lang="pt-BR" sz="4000" b="1" dirty="0">
                <a:latin typeface="Poppins" panose="00000500000000000000" pitchFamily="2" charset="0"/>
                <a:cs typeface="Poppins" panose="00000500000000000000" pitchFamily="2" charset="0"/>
              </a:rPr>
              <a:t> </a:t>
            </a:r>
            <a:r>
              <a:rPr lang="pt-BR" sz="4000" b="1" dirty="0" err="1">
                <a:latin typeface="Poppins" panose="00000500000000000000" pitchFamily="2" charset="0"/>
                <a:cs typeface="Poppins" panose="00000500000000000000" pitchFamily="2" charset="0"/>
              </a:rPr>
              <a:t>test</a:t>
            </a:r>
            <a:r>
              <a:rPr lang="pt-BR" sz="4000" b="1" dirty="0">
                <a:latin typeface="Poppins" panose="00000500000000000000" pitchFamily="2" charset="0"/>
                <a:cs typeface="Poppins" panose="00000500000000000000" pitchFamily="2" charset="0"/>
              </a:rPr>
              <a:t> -- --</a:t>
            </a:r>
            <a:r>
              <a:rPr lang="pt-BR" sz="4000" b="1" dirty="0" err="1">
                <a:latin typeface="Poppins" panose="00000500000000000000" pitchFamily="2" charset="0"/>
                <a:cs typeface="Poppins" panose="00000500000000000000" pitchFamily="2" charset="0"/>
              </a:rPr>
              <a:t>coverage</a:t>
            </a:r>
            <a:r>
              <a:rPr lang="pt-BR" sz="4000" b="1" dirty="0">
                <a:latin typeface="Poppins" panose="00000500000000000000" pitchFamily="2" charset="0"/>
                <a:cs typeface="Poppins" panose="00000500000000000000" pitchFamily="2" charset="0"/>
              </a:rPr>
              <a:t> faz ao rodar os testes com </a:t>
            </a:r>
            <a:r>
              <a:rPr lang="pt-BR" sz="4000" b="1" dirty="0" err="1">
                <a:latin typeface="Poppins" panose="00000500000000000000" pitchFamily="2" charset="0"/>
                <a:cs typeface="Poppins" panose="00000500000000000000" pitchFamily="2" charset="0"/>
              </a:rPr>
              <a:t>Jest</a:t>
            </a:r>
            <a:r>
              <a:rPr lang="pt-BR" sz="4000" b="1" dirty="0">
                <a:latin typeface="Poppins" panose="00000500000000000000" pitchFamily="2" charset="0"/>
                <a:cs typeface="Poppins" panose="00000500000000000000" pitchFamily="2" charset="0"/>
              </a:rPr>
              <a:t>?</a:t>
            </a:r>
          </a:p>
          <a:p>
            <a:pPr lvl="4"/>
            <a:endParaRPr lang="pt-BR" dirty="0"/>
          </a:p>
        </p:txBody>
      </p:sp>
      <p:sp>
        <p:nvSpPr>
          <p:cNvPr id="38" name="CaixaDeTexto 37">
            <a:extLst>
              <a:ext uri="{FF2B5EF4-FFF2-40B4-BE49-F238E27FC236}">
                <a16:creationId xmlns:a16="http://schemas.microsoft.com/office/drawing/2014/main" id="{A5B5055A-4A1E-9606-D80A-5B344E531E47}"/>
              </a:ext>
            </a:extLst>
          </p:cNvPr>
          <p:cNvSpPr txBox="1"/>
          <p:nvPr/>
        </p:nvSpPr>
        <p:spPr>
          <a:xfrm>
            <a:off x="4569556" y="4871855"/>
            <a:ext cx="5108802" cy="1200329"/>
          </a:xfrm>
          <a:prstGeom prst="rect">
            <a:avLst/>
          </a:prstGeom>
          <a:noFill/>
          <a:ln>
            <a:noFill/>
          </a:ln>
        </p:spPr>
        <p:txBody>
          <a:bodyPr wrap="square">
            <a:spAutoFit/>
          </a:bodyPr>
          <a:lstStyle/>
          <a:p>
            <a:pPr algn="ctr"/>
            <a:r>
              <a:rPr lang="pt-BR" sz="2400" b="1" dirty="0">
                <a:solidFill>
                  <a:schemeClr val="bg1"/>
                </a:solidFill>
                <a:latin typeface="Poppins" panose="00000500000000000000" pitchFamily="2" charset="0"/>
                <a:cs typeface="Poppins" panose="00000500000000000000" pitchFamily="2" charset="0"/>
              </a:rPr>
              <a:t>Executa os testes e gera um relatório de cobertura de código.</a:t>
            </a:r>
          </a:p>
        </p:txBody>
      </p:sp>
    </p:spTree>
    <p:extLst>
      <p:ext uri="{BB962C8B-B14F-4D97-AF65-F5344CB8AC3E}">
        <p14:creationId xmlns:p14="http://schemas.microsoft.com/office/powerpoint/2010/main" val="259628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2" name="Google Shape;849;p64">
            <a:extLst>
              <a:ext uri="{FF2B5EF4-FFF2-40B4-BE49-F238E27FC236}">
                <a16:creationId xmlns:a16="http://schemas.microsoft.com/office/drawing/2014/main" id="{EA35769D-5E89-8BEC-A209-BE3F409112CD}"/>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A54E57C6-161C-AAD7-A54C-D279F544769B}"/>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 name="Google Shape;852;p64">
            <a:extLst>
              <a:ext uri="{FF2B5EF4-FFF2-40B4-BE49-F238E27FC236}">
                <a16:creationId xmlns:a16="http://schemas.microsoft.com/office/drawing/2014/main" id="{B7F767F6-4174-2AFB-8B12-FB0DC79F474E}"/>
              </a:ext>
            </a:extLst>
          </p:cNvPr>
          <p:cNvSpPr txBox="1"/>
          <p:nvPr/>
        </p:nvSpPr>
        <p:spPr>
          <a:xfrm>
            <a:off x="4985898" y="6704711"/>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Testar o banco de dados da aplicação.</a:t>
            </a:r>
            <a:endParaRPr lang="pt-BR" sz="2400" b="1" i="0" u="none" strike="noStrike" cap="none" dirty="0">
              <a:solidFill>
                <a:schemeClr val="bg1"/>
              </a:solidFill>
              <a:latin typeface="Arial"/>
              <a:ea typeface="Arial"/>
              <a:cs typeface="Arial"/>
              <a:sym typeface="Arial"/>
            </a:endParaRP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553941" y="6684803"/>
            <a:ext cx="4183800" cy="738664"/>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Executar apenas testes unitários em </a:t>
            </a:r>
            <a:r>
              <a:rPr lang="pt-BR" sz="2400" b="1" dirty="0" err="1">
                <a:solidFill>
                  <a:schemeClr val="bg1"/>
                </a:solidFill>
                <a:latin typeface="Poppins" panose="00000500000000000000" pitchFamily="2" charset="0"/>
                <a:cs typeface="Poppins" panose="00000500000000000000" pitchFamily="2" charset="0"/>
              </a:rPr>
              <a:t>JavaScript</a:t>
            </a:r>
            <a:r>
              <a:rPr lang="pt-BR" sz="2400" b="1" dirty="0">
                <a:solidFill>
                  <a:schemeClr val="bg1"/>
                </a:solidFill>
                <a:latin typeface="Poppins" panose="00000500000000000000" pitchFamily="2" charset="0"/>
                <a:cs typeface="Poppins" panose="00000500000000000000" pitchFamily="2" charset="0"/>
              </a:rPr>
              <a:t>.</a:t>
            </a:r>
          </a:p>
        </p:txBody>
      </p:sp>
      <p:sp>
        <p:nvSpPr>
          <p:cNvPr id="18" name="Google Shape;855;p64">
            <a:extLst>
              <a:ext uri="{FF2B5EF4-FFF2-40B4-BE49-F238E27FC236}">
                <a16:creationId xmlns:a16="http://schemas.microsoft.com/office/drawing/2014/main" id="{E56D8818-40F0-C689-0CEF-D7AE8A161C1B}"/>
              </a:ext>
            </a:extLst>
          </p:cNvPr>
          <p:cNvSpPr txBox="1"/>
          <p:nvPr/>
        </p:nvSpPr>
        <p:spPr>
          <a:xfrm>
            <a:off x="5018316" y="5085313"/>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Testar a lógica de funções e algoritmos do servidor.</a:t>
            </a:r>
            <a:endParaRPr lang="pt-BR" sz="2400" b="1" i="0" u="none" strike="noStrike" cap="none" dirty="0">
              <a:solidFill>
                <a:schemeClr val="bg1"/>
              </a:solidFill>
              <a:latin typeface="Arial"/>
              <a:ea typeface="Arial"/>
              <a:cs typeface="Arial"/>
              <a:sym typeface="Arial"/>
            </a:endParaRPr>
          </a:p>
        </p:txBody>
      </p:sp>
      <p:sp>
        <p:nvSpPr>
          <p:cNvPr id="19" name="Google Shape;856;p64">
            <a:extLst>
              <a:ext uri="{FF2B5EF4-FFF2-40B4-BE49-F238E27FC236}">
                <a16:creationId xmlns:a16="http://schemas.microsoft.com/office/drawing/2014/main" id="{8801C580-7A6F-405E-8463-C89B1F60C9B1}"/>
              </a:ext>
            </a:extLst>
          </p:cNvPr>
          <p:cNvSpPr txBox="1"/>
          <p:nvPr/>
        </p:nvSpPr>
        <p:spPr>
          <a:xfrm>
            <a:off x="10586358" y="4888654"/>
            <a:ext cx="4380925"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Validar o comportamento de elementos da interface ao interagir com o usuário.</a:t>
            </a:r>
            <a:endParaRPr lang="pt-BR" sz="2400" b="1" i="0" u="none" strike="noStrike" cap="none" dirty="0">
              <a:solidFill>
                <a:schemeClr val="bg1"/>
              </a:solidFill>
              <a:latin typeface="Arial"/>
              <a:ea typeface="Arial"/>
              <a:cs typeface="Arial"/>
              <a:sym typeface="Arial"/>
            </a:endParaRP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BF57810-9FEF-4033-D5D3-F67A1276D007}"/>
              </a:ext>
            </a:extLst>
          </p:cNvPr>
          <p:cNvSpPr>
            <a:spLocks noGrp="1"/>
          </p:cNvSpPr>
          <p:nvPr>
            <p:ph type="body" sz="quarter" idx="10"/>
          </p:nvPr>
        </p:nvSpPr>
        <p:spPr>
          <a:xfrm>
            <a:off x="4539582" y="2151356"/>
            <a:ext cx="10660731" cy="1375100"/>
          </a:xfrm>
          <a:prstGeom prst="rect">
            <a:avLst/>
          </a:prstGeom>
        </p:spPr>
        <p:txBody>
          <a:bodyPr>
            <a:norm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o papel do Cypress em uma aplicação web?</a:t>
            </a:r>
          </a:p>
          <a:p>
            <a:pPr lvl="4"/>
            <a:endParaRPr lang="pt-BR" dirty="0"/>
          </a:p>
        </p:txBody>
      </p:sp>
    </p:spTree>
    <p:extLst>
      <p:ext uri="{BB962C8B-B14F-4D97-AF65-F5344CB8AC3E}">
        <p14:creationId xmlns:p14="http://schemas.microsoft.com/office/powerpoint/2010/main" val="1925369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90901B14-1D82-3DB6-97E1-CF4CCD2ECC31}"/>
              </a:ext>
            </a:extLst>
          </p:cNvPr>
          <p:cNvSpPr/>
          <p:nvPr/>
        </p:nvSpPr>
        <p:spPr>
          <a:xfrm>
            <a:off x="3672644" y="672467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8" name="Google Shape;1435;p98">
            <a:extLst>
              <a:ext uri="{FF2B5EF4-FFF2-40B4-BE49-F238E27FC236}">
                <a16:creationId xmlns:a16="http://schemas.microsoft.com/office/drawing/2014/main" id="{9FD76F00-80C9-C32C-B707-9B706920B70A}"/>
              </a:ext>
            </a:extLst>
          </p:cNvPr>
          <p:cNvSpPr/>
          <p:nvPr/>
        </p:nvSpPr>
        <p:spPr>
          <a:xfrm>
            <a:off x="3656207" y="5100104"/>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9" name="Google Shape;1436;p98">
            <a:extLst>
              <a:ext uri="{FF2B5EF4-FFF2-40B4-BE49-F238E27FC236}">
                <a16:creationId xmlns:a16="http://schemas.microsoft.com/office/drawing/2014/main" id="{E013079C-2188-FD91-E8B8-894B37166A33}"/>
              </a:ext>
            </a:extLst>
          </p:cNvPr>
          <p:cNvSpPr/>
          <p:nvPr/>
        </p:nvSpPr>
        <p:spPr>
          <a:xfrm>
            <a:off x="15398640" y="6683571"/>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10" name="Google Shape;1437;p98">
            <a:extLst>
              <a:ext uri="{FF2B5EF4-FFF2-40B4-BE49-F238E27FC236}">
                <a16:creationId xmlns:a16="http://schemas.microsoft.com/office/drawing/2014/main" id="{93394F96-66FC-0DDF-4A6C-BA980A73178C}"/>
              </a:ext>
            </a:extLst>
          </p:cNvPr>
          <p:cNvSpPr/>
          <p:nvPr/>
        </p:nvSpPr>
        <p:spPr>
          <a:xfrm rot="-3043640">
            <a:off x="15495496" y="5229156"/>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Calibri"/>
              <a:ea typeface="Calibri"/>
              <a:cs typeface="Calibri"/>
              <a:sym typeface="Calibri"/>
            </a:endParaRPr>
          </a:p>
        </p:txBody>
      </p:sp>
      <p:sp>
        <p:nvSpPr>
          <p:cNvPr id="2" name="Google Shape;852;p64">
            <a:extLst>
              <a:ext uri="{FF2B5EF4-FFF2-40B4-BE49-F238E27FC236}">
                <a16:creationId xmlns:a16="http://schemas.microsoft.com/office/drawing/2014/main" id="{9EE23C1F-B9DA-55EB-A951-A62E325CB942}"/>
              </a:ext>
            </a:extLst>
          </p:cNvPr>
          <p:cNvSpPr txBox="1"/>
          <p:nvPr/>
        </p:nvSpPr>
        <p:spPr>
          <a:xfrm>
            <a:off x="4985898" y="6704711"/>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Testar o banco de dados da aplicação.</a:t>
            </a:r>
            <a:endParaRPr lang="pt-BR" sz="2400" b="1" i="0" u="none" strike="noStrike" cap="none" dirty="0">
              <a:solidFill>
                <a:schemeClr val="bg1"/>
              </a:solidFill>
              <a:latin typeface="Arial"/>
              <a:ea typeface="Arial"/>
              <a:cs typeface="Arial"/>
              <a:sym typeface="Arial"/>
            </a:endParaRPr>
          </a:p>
        </p:txBody>
      </p:sp>
      <p:sp>
        <p:nvSpPr>
          <p:cNvPr id="5" name="Google Shape;854;p64">
            <a:extLst>
              <a:ext uri="{FF2B5EF4-FFF2-40B4-BE49-F238E27FC236}">
                <a16:creationId xmlns:a16="http://schemas.microsoft.com/office/drawing/2014/main" id="{DEEE0892-5632-DB59-41B9-86A819AAAE90}"/>
              </a:ext>
            </a:extLst>
          </p:cNvPr>
          <p:cNvSpPr txBox="1"/>
          <p:nvPr/>
        </p:nvSpPr>
        <p:spPr>
          <a:xfrm>
            <a:off x="10553941" y="6637911"/>
            <a:ext cx="4183800" cy="738664"/>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panose="00000500000000000000" pitchFamily="2" charset="0"/>
                <a:cs typeface="Poppins" panose="00000500000000000000" pitchFamily="2" charset="0"/>
              </a:rPr>
              <a:t>Executar apenas testes unitários em </a:t>
            </a:r>
            <a:r>
              <a:rPr lang="pt-BR" sz="2400" b="1" dirty="0" err="1">
                <a:solidFill>
                  <a:schemeClr val="bg1"/>
                </a:solidFill>
                <a:latin typeface="Poppins" panose="00000500000000000000" pitchFamily="2" charset="0"/>
                <a:cs typeface="Poppins" panose="00000500000000000000" pitchFamily="2" charset="0"/>
              </a:rPr>
              <a:t>JavaScript</a:t>
            </a:r>
            <a:r>
              <a:rPr lang="pt-BR" sz="2400" b="1" dirty="0">
                <a:solidFill>
                  <a:schemeClr val="bg1"/>
                </a:solidFill>
                <a:latin typeface="Poppins" panose="00000500000000000000" pitchFamily="2" charset="0"/>
                <a:cs typeface="Poppins" panose="00000500000000000000" pitchFamily="2" charset="0"/>
              </a:rPr>
              <a:t>.</a:t>
            </a:r>
          </a:p>
        </p:txBody>
      </p:sp>
      <p:sp>
        <p:nvSpPr>
          <p:cNvPr id="11" name="Google Shape;855;p64">
            <a:extLst>
              <a:ext uri="{FF2B5EF4-FFF2-40B4-BE49-F238E27FC236}">
                <a16:creationId xmlns:a16="http://schemas.microsoft.com/office/drawing/2014/main" id="{5BC1BD7D-9584-2A63-DB40-53091CBF05F5}"/>
              </a:ext>
            </a:extLst>
          </p:cNvPr>
          <p:cNvSpPr txBox="1"/>
          <p:nvPr/>
        </p:nvSpPr>
        <p:spPr>
          <a:xfrm>
            <a:off x="4985898" y="5098527"/>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Testar a lógica de funções e algoritmos do servidor.</a:t>
            </a:r>
            <a:endParaRPr lang="pt-BR" sz="2400" b="1" i="0" u="none" strike="noStrike" cap="none" dirty="0">
              <a:solidFill>
                <a:schemeClr val="bg1"/>
              </a:solidFill>
              <a:latin typeface="Arial"/>
              <a:ea typeface="Arial"/>
              <a:cs typeface="Arial"/>
              <a:sym typeface="Arial"/>
            </a:endParaRPr>
          </a:p>
        </p:txBody>
      </p:sp>
      <p:sp>
        <p:nvSpPr>
          <p:cNvPr id="20" name="Google Shape;856;p64">
            <a:extLst>
              <a:ext uri="{FF2B5EF4-FFF2-40B4-BE49-F238E27FC236}">
                <a16:creationId xmlns:a16="http://schemas.microsoft.com/office/drawing/2014/main" id="{378719D3-B53D-1DF8-B8C3-05609A6BD328}"/>
              </a:ext>
            </a:extLst>
          </p:cNvPr>
          <p:cNvSpPr txBox="1"/>
          <p:nvPr/>
        </p:nvSpPr>
        <p:spPr>
          <a:xfrm>
            <a:off x="10553941" y="4873784"/>
            <a:ext cx="4382198" cy="147732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panose="00000500000000000000" pitchFamily="2" charset="0"/>
                <a:cs typeface="Poppins" panose="00000500000000000000" pitchFamily="2" charset="0"/>
              </a:rPr>
              <a:t>Validar o comportamento de elementos da interface ao interagir com o usuário.</a:t>
            </a:r>
            <a:br>
              <a:rPr lang="pt-BR" sz="2400" b="1" dirty="0">
                <a:solidFill>
                  <a:schemeClr val="bg1"/>
                </a:solidFill>
                <a:latin typeface="Poppins" panose="00000500000000000000" pitchFamily="2" charset="0"/>
                <a:cs typeface="Poppins" panose="00000500000000000000" pitchFamily="2" charset="0"/>
              </a:rPr>
            </a:br>
            <a:endParaRPr lang="pt-BR" sz="2400" b="1" i="0" u="none" strike="noStrike" cap="none" dirty="0">
              <a:solidFill>
                <a:schemeClr val="bg1"/>
              </a:solidFill>
              <a:latin typeface="Arial"/>
              <a:ea typeface="Arial"/>
              <a:cs typeface="Arial"/>
              <a:sym typeface="Arial"/>
            </a:endParaRPr>
          </a:p>
        </p:txBody>
      </p:sp>
      <p:sp>
        <p:nvSpPr>
          <p:cNvPr id="18" name="Espaço Reservado para Texto 10">
            <a:extLst>
              <a:ext uri="{FF2B5EF4-FFF2-40B4-BE49-F238E27FC236}">
                <a16:creationId xmlns:a16="http://schemas.microsoft.com/office/drawing/2014/main" id="{200AD214-669E-0BD9-C4EC-2635F3BBCC41}"/>
              </a:ext>
            </a:extLst>
          </p:cNvPr>
          <p:cNvSpPr>
            <a:spLocks noGrp="1"/>
          </p:cNvSpPr>
          <p:nvPr>
            <p:ph type="body" sz="quarter" idx="10"/>
          </p:nvPr>
        </p:nvSpPr>
        <p:spPr>
          <a:xfrm>
            <a:off x="4539582" y="2004226"/>
            <a:ext cx="10660731" cy="1576107"/>
          </a:xfrm>
          <a:prstGeom prst="rect">
            <a:avLst/>
          </a:prstGeom>
        </p:spPr>
        <p:txBody>
          <a:bodyPr>
            <a:norm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o papel do Cypress em uma aplicação web?</a:t>
            </a:r>
          </a:p>
          <a:p>
            <a:pPr lvl="4"/>
            <a:endParaRPr lang="pt-BR" dirty="0"/>
          </a:p>
        </p:txBody>
      </p:sp>
    </p:spTree>
    <p:extLst>
      <p:ext uri="{BB962C8B-B14F-4D97-AF65-F5344CB8AC3E}">
        <p14:creationId xmlns:p14="http://schemas.microsoft.com/office/powerpoint/2010/main" val="2764908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73960"/>
            <a:ext cx="9868502" cy="1436400"/>
          </a:xfrm>
        </p:spPr>
        <p:txBody>
          <a:bodyPr>
            <a:normAutofit/>
          </a:bodyPr>
          <a:lstStyle/>
          <a:p>
            <a:pPr marL="0" indent="0"/>
            <a:r>
              <a:rPr lang="pt-BR" sz="2400" dirty="0"/>
              <a:t>Identificamos e configuramos as ferramentas necessárias para implementar testes automatizados, como </a:t>
            </a:r>
            <a:r>
              <a:rPr lang="pt-BR" sz="2400" dirty="0" err="1"/>
              <a:t>Jest</a:t>
            </a:r>
            <a:r>
              <a:rPr lang="pt-BR" sz="2400" dirty="0"/>
              <a:t> e Cypress, em um projeto Node.js.</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563183"/>
            <a:ext cx="10235825" cy="1436400"/>
          </a:xfrm>
        </p:spPr>
        <p:txBody>
          <a:bodyPr>
            <a:noAutofit/>
          </a:bodyPr>
          <a:lstStyle/>
          <a:p>
            <a:pPr marL="0" indent="0"/>
            <a:r>
              <a:rPr lang="pt-BR" sz="2400" dirty="0"/>
              <a:t>Compreendemos a importância dos testes unitários e de interface para garantir a qualidade e a confiabilidade do código, cobrindo tanto a lógica quanto a interação com o usuário.</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352406"/>
            <a:ext cx="9531863" cy="1204402"/>
          </a:xfrm>
        </p:spPr>
        <p:txBody>
          <a:bodyPr>
            <a:noAutofit/>
          </a:bodyPr>
          <a:lstStyle/>
          <a:p>
            <a:pPr marL="0" indent="0"/>
            <a:r>
              <a:rPr lang="pt-BR" sz="2400" dirty="0"/>
              <a:t>Implementamos testes práticos, utilizando </a:t>
            </a:r>
            <a:r>
              <a:rPr lang="pt-BR" sz="2400" dirty="0" err="1"/>
              <a:t>Jest</a:t>
            </a:r>
            <a:r>
              <a:rPr lang="pt-BR" sz="2400" dirty="0"/>
              <a:t> para validar funções e Cypress para simular interações na interface, automatizando a verificação de funcionalidades.</a:t>
            </a:r>
            <a:endParaRPr lang="pt-BR" sz="2400" dirty="0">
              <a:latin typeface="Poppins" pitchFamily="2" charset="77"/>
              <a:cs typeface="Poppins" pitchFamily="2" charset="77"/>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548561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75791" y="2781300"/>
            <a:ext cx="14417223" cy="5734366"/>
          </a:xfrm>
        </p:spPr>
        <p:txBody>
          <a:bodyPr>
            <a:noAutofit/>
          </a:bodyPr>
          <a:lstStyle/>
          <a:p>
            <a:pPr marL="0" indent="0">
              <a:lnSpc>
                <a:spcPct val="110000"/>
              </a:lnSpc>
              <a:spcBef>
                <a:spcPts val="0"/>
              </a:spcBef>
              <a:spcAft>
                <a:spcPts val="1800"/>
              </a:spcAft>
            </a:pPr>
            <a:r>
              <a:rPr lang="pt-BR" sz="2400" dirty="0">
                <a:latin typeface="Poppins" panose="00000500000000000000" pitchFamily="2" charset="0"/>
                <a:cs typeface="Poppins" panose="00000500000000000000" pitchFamily="2" charset="0"/>
              </a:rPr>
              <a:t>ESTEVÃO. </a:t>
            </a:r>
            <a:r>
              <a:rPr lang="pt-BR" sz="2400" b="1" dirty="0">
                <a:latin typeface="Poppins" panose="00000500000000000000" pitchFamily="2" charset="0"/>
                <a:cs typeface="Poppins" panose="00000500000000000000" pitchFamily="2" charset="0"/>
              </a:rPr>
              <a:t>Teste unitário com </a:t>
            </a:r>
            <a:r>
              <a:rPr lang="pt-BR" sz="2400" b="1" dirty="0" err="1">
                <a:latin typeface="Poppins" panose="00000500000000000000" pitchFamily="2" charset="0"/>
                <a:cs typeface="Poppins" panose="00000500000000000000" pitchFamily="2" charset="0"/>
              </a:rPr>
              <a:t>Jest</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DevMedia</a:t>
            </a:r>
            <a:r>
              <a:rPr lang="pt-BR" sz="2400" dirty="0">
                <a:latin typeface="Poppins" panose="00000500000000000000" pitchFamily="2" charset="0"/>
                <a:cs typeface="Poppins" panose="00000500000000000000" pitchFamily="2" charset="0"/>
              </a:rPr>
              <a:t>, 2020. Disponível em: </a:t>
            </a:r>
            <a:r>
              <a:rPr lang="pt-BR" sz="2400" dirty="0">
                <a:latin typeface="Poppins" panose="00000500000000000000" pitchFamily="2" charset="0"/>
                <a:cs typeface="Poppins" panose="00000500000000000000" pitchFamily="2" charset="0"/>
                <a:hlinkClick r:id="rId2"/>
              </a:rPr>
              <a:t>https://www.devmedia.com.br/teste-</a:t>
            </a:r>
            <a:r>
              <a:rPr lang="pt-BR" sz="2400" dirty="0" err="1">
                <a:latin typeface="Poppins" panose="00000500000000000000" pitchFamily="2" charset="0"/>
                <a:cs typeface="Poppins" panose="00000500000000000000" pitchFamily="2" charset="0"/>
                <a:hlinkClick r:id="rId2"/>
              </a:rPr>
              <a:t>unitario</a:t>
            </a:r>
            <a:r>
              <a:rPr lang="pt-BR" sz="2400" dirty="0">
                <a:latin typeface="Poppins" panose="00000500000000000000" pitchFamily="2" charset="0"/>
                <a:cs typeface="Poppins" panose="00000500000000000000" pitchFamily="2" charset="0"/>
                <a:hlinkClick r:id="rId2"/>
              </a:rPr>
              <a:t>-</a:t>
            </a:r>
            <a:r>
              <a:rPr lang="pt-BR" sz="2400" dirty="0" err="1">
                <a:latin typeface="Poppins" panose="00000500000000000000" pitchFamily="2" charset="0"/>
                <a:cs typeface="Poppins" panose="00000500000000000000" pitchFamily="2" charset="0"/>
                <a:hlinkClick r:id="rId2"/>
              </a:rPr>
              <a:t>com-jest</a:t>
            </a:r>
            <a:r>
              <a:rPr lang="pt-BR" sz="2400" dirty="0">
                <a:latin typeface="Poppins" panose="00000500000000000000" pitchFamily="2" charset="0"/>
                <a:cs typeface="Poppins" panose="00000500000000000000" pitchFamily="2" charset="0"/>
                <a:hlinkClick r:id="rId2"/>
              </a:rPr>
              <a:t>/41234</a:t>
            </a:r>
            <a:r>
              <a:rPr lang="pt-BR" sz="2400" dirty="0">
                <a:latin typeface="Poppins" panose="00000500000000000000" pitchFamily="2" charset="0"/>
                <a:cs typeface="Poppins" panose="00000500000000000000" pitchFamily="2" charset="0"/>
              </a:rPr>
              <a:t>. Acesso em: 14 abr. 2025.</a:t>
            </a:r>
          </a:p>
          <a:p>
            <a:pPr marL="0" indent="0">
              <a:lnSpc>
                <a:spcPct val="110000"/>
              </a:lnSpc>
              <a:spcBef>
                <a:spcPts val="0"/>
              </a:spcBef>
              <a:spcAft>
                <a:spcPts val="1800"/>
              </a:spcAft>
            </a:pPr>
            <a:r>
              <a:rPr lang="pt-BR" sz="2400" dirty="0">
                <a:latin typeface="Poppins" panose="00000500000000000000" pitchFamily="2" charset="0"/>
                <a:cs typeface="Poppins" panose="00000500000000000000" pitchFamily="2" charset="0"/>
              </a:rPr>
              <a:t>SANTOS, E. M. </a:t>
            </a:r>
            <a:r>
              <a:rPr lang="pt-BR" sz="2400" b="1" dirty="0">
                <a:latin typeface="Poppins" panose="00000500000000000000" pitchFamily="2" charset="0"/>
                <a:cs typeface="Poppins" panose="00000500000000000000" pitchFamily="2" charset="0"/>
              </a:rPr>
              <a:t>Cypress: passo a passo para começar a usar</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SoftDesign</a:t>
            </a:r>
            <a:r>
              <a:rPr lang="pt-BR" sz="2400" dirty="0">
                <a:latin typeface="Poppins" panose="00000500000000000000" pitchFamily="2" charset="0"/>
                <a:cs typeface="Poppins" panose="00000500000000000000" pitchFamily="2" charset="0"/>
              </a:rPr>
              <a:t>, 27 fev. 2025. Disponível em: </a:t>
            </a:r>
            <a:r>
              <a:rPr lang="pt-BR" sz="2400" dirty="0">
                <a:latin typeface="Poppins" panose="00000500000000000000" pitchFamily="2" charset="0"/>
                <a:cs typeface="Poppins" panose="00000500000000000000" pitchFamily="2" charset="0"/>
                <a:hlinkClick r:id="rId3"/>
              </a:rPr>
              <a:t>https://softdesign.com.br/blog/</a:t>
            </a:r>
            <a:r>
              <a:rPr lang="pt-BR" sz="2400" dirty="0" err="1">
                <a:latin typeface="Poppins" panose="00000500000000000000" pitchFamily="2" charset="0"/>
                <a:cs typeface="Poppins" panose="00000500000000000000" pitchFamily="2" charset="0"/>
                <a:hlinkClick r:id="rId3"/>
              </a:rPr>
              <a:t>cypress_passo_a_passo_para_comecar_a_usar</a:t>
            </a:r>
            <a:r>
              <a:rPr lang="pt-BR" sz="2400" dirty="0">
                <a:latin typeface="Poppins" panose="00000500000000000000" pitchFamily="2" charset="0"/>
                <a:cs typeface="Poppins" panose="00000500000000000000" pitchFamily="2" charset="0"/>
                <a:hlinkClick r:id="rId3"/>
              </a:rPr>
              <a:t>/#h-o-que-e-o-cypress</a:t>
            </a:r>
            <a:r>
              <a:rPr lang="pt-BR" sz="2400" dirty="0">
                <a:latin typeface="Poppins" panose="00000500000000000000" pitchFamily="2" charset="0"/>
                <a:cs typeface="Poppins" panose="00000500000000000000" pitchFamily="2" charset="0"/>
              </a:rPr>
              <a:t>. Acesso em: 14 abr. 2025.</a:t>
            </a:r>
          </a:p>
          <a:p>
            <a:pPr marL="0" indent="0">
              <a:lnSpc>
                <a:spcPct val="110000"/>
              </a:lnSpc>
              <a:spcBef>
                <a:spcPts val="0"/>
              </a:spcBef>
              <a:spcAft>
                <a:spcPts val="1800"/>
              </a:spcAft>
            </a:pPr>
            <a:r>
              <a:rPr lang="pt-BR" sz="2400" dirty="0">
                <a:latin typeface="Poppins" panose="00000500000000000000" pitchFamily="2" charset="0"/>
                <a:cs typeface="Poppins" panose="00000500000000000000" pitchFamily="2" charset="0"/>
              </a:rPr>
              <a:t>SEGUINS, N. </a:t>
            </a:r>
            <a:r>
              <a:rPr lang="pt-BR" sz="2400" b="1" dirty="0">
                <a:latin typeface="Poppins" panose="00000500000000000000" pitchFamily="2" charset="0"/>
                <a:cs typeface="Poppins" panose="00000500000000000000" pitchFamily="2" charset="0"/>
              </a:rPr>
              <a:t>Como implementar cobertura de testes no Cypress</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Alura</a:t>
            </a:r>
            <a:r>
              <a:rPr lang="pt-BR" sz="2400" dirty="0">
                <a:latin typeface="Poppins" panose="00000500000000000000" pitchFamily="2" charset="0"/>
                <a:cs typeface="Poppins" panose="00000500000000000000" pitchFamily="2" charset="0"/>
              </a:rPr>
              <a:t>, 24 abr. 2023. Disponível em: </a:t>
            </a:r>
            <a:r>
              <a:rPr lang="pt-BR" sz="2400" dirty="0">
                <a:latin typeface="Poppins" panose="00000500000000000000" pitchFamily="2" charset="0"/>
                <a:cs typeface="Poppins" panose="00000500000000000000" pitchFamily="2" charset="0"/>
                <a:hlinkClick r:id="rId4"/>
              </a:rPr>
              <a:t>https://www.alura.com.br/artigos/como-implementar-cobertura-testes-</a:t>
            </a:r>
            <a:r>
              <a:rPr lang="pt-BR" sz="2400" dirty="0" err="1">
                <a:latin typeface="Poppins" panose="00000500000000000000" pitchFamily="2" charset="0"/>
                <a:cs typeface="Poppins" panose="00000500000000000000" pitchFamily="2" charset="0"/>
                <a:hlinkClick r:id="rId4"/>
              </a:rPr>
              <a:t>cypress</a:t>
            </a:r>
            <a:r>
              <a:rPr lang="pt-BR" sz="2400" dirty="0">
                <a:latin typeface="Poppins" panose="00000500000000000000" pitchFamily="2" charset="0"/>
                <a:cs typeface="Poppins" panose="00000500000000000000" pitchFamily="2" charset="0"/>
              </a:rPr>
              <a:t>. Acesso em: 14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Getty Images.</a:t>
            </a:r>
          </a:p>
        </p:txBody>
      </p:sp>
    </p:spTree>
    <p:extLst>
      <p:ext uri="{BB962C8B-B14F-4D97-AF65-F5344CB8AC3E}">
        <p14:creationId xmlns:p14="http://schemas.microsoft.com/office/powerpoint/2010/main" val="2769904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1016049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805B93-2C52-AC1F-B887-D4EC11DA16C5}"/>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15D9817F-C076-EFA7-FF5E-D3BC491F8463}"/>
              </a:ext>
            </a:extLst>
          </p:cNvPr>
          <p:cNvCxnSpPr>
            <a:cxnSpLocks/>
          </p:cNvCxnSpPr>
          <p:nvPr/>
        </p:nvCxnSpPr>
        <p:spPr>
          <a:xfrm flipV="1">
            <a:off x="868312" y="1642641"/>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82D57945-4014-A280-5C74-1D577D60E95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2">
            <a:extLst>
              <a:ext uri="{FF2B5EF4-FFF2-40B4-BE49-F238E27FC236}">
                <a16:creationId xmlns:a16="http://schemas.microsoft.com/office/drawing/2014/main" id="{E16CFDDA-EC67-BD8D-2E41-D0488EFD157B}"/>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14" name="Google Shape;2216;p100">
            <a:extLst>
              <a:ext uri="{FF2B5EF4-FFF2-40B4-BE49-F238E27FC236}">
                <a16:creationId xmlns:a16="http://schemas.microsoft.com/office/drawing/2014/main" id="{DB29117E-F7AD-1CB8-22F3-13C0D8B141BE}"/>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40947B78-7BE2-EAE2-2C57-EA011226EA24}"/>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latin typeface="Poppins" panose="00000500000000000000" pitchFamily="2" charset="0"/>
              <a:cs typeface="Poppins" panose="00000500000000000000" pitchFamily="2" charset="0"/>
            </a:endParaRPr>
          </a:p>
        </p:txBody>
      </p:sp>
      <p:sp>
        <p:nvSpPr>
          <p:cNvPr id="3" name="CaixaDeTexto 2">
            <a:extLst>
              <a:ext uri="{FF2B5EF4-FFF2-40B4-BE49-F238E27FC236}">
                <a16:creationId xmlns:a16="http://schemas.microsoft.com/office/drawing/2014/main" id="{E89388C6-3CEE-72C1-634E-4A2262898450}"/>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46 minutos.</a:t>
            </a:r>
            <a:endParaRPr lang="pt-BR" dirty="0">
              <a:latin typeface="Poppins" panose="00000500000000000000" pitchFamily="2" charset="0"/>
              <a:cs typeface="Poppins" panose="00000500000000000000" pitchFamily="2" charset="0"/>
            </a:endParaRPr>
          </a:p>
        </p:txBody>
      </p:sp>
      <p:sp>
        <p:nvSpPr>
          <p:cNvPr id="2" name="Oval 11">
            <a:extLst>
              <a:ext uri="{FF2B5EF4-FFF2-40B4-BE49-F238E27FC236}">
                <a16:creationId xmlns:a16="http://schemas.microsoft.com/office/drawing/2014/main" id="{710B2679-429C-B507-571A-3C5E7793AB93}"/>
              </a:ext>
            </a:extLst>
          </p:cNvPr>
          <p:cNvSpPr/>
          <p:nvPr/>
        </p:nvSpPr>
        <p:spPr>
          <a:xfrm>
            <a:off x="594328" y="31201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4" name="Imagem 3">
            <a:extLst>
              <a:ext uri="{FF2B5EF4-FFF2-40B4-BE49-F238E27FC236}">
                <a16:creationId xmlns:a16="http://schemas.microsoft.com/office/drawing/2014/main" id="{8EDF900F-C473-8335-7BEE-AF896C2C5BFC}"/>
              </a:ext>
            </a:extLst>
          </p:cNvPr>
          <p:cNvPicPr>
            <a:picLocks noChangeAspect="1"/>
          </p:cNvPicPr>
          <p:nvPr/>
        </p:nvPicPr>
        <p:blipFill>
          <a:blip r:embed="rId3"/>
          <a:srcRect/>
          <a:stretch/>
        </p:blipFill>
        <p:spPr>
          <a:xfrm>
            <a:off x="769865" y="3264295"/>
            <a:ext cx="235287" cy="282344"/>
          </a:xfrm>
          <a:prstGeom prst="rect">
            <a:avLst/>
          </a:prstGeom>
        </p:spPr>
      </p:pic>
      <p:sp>
        <p:nvSpPr>
          <p:cNvPr id="8" name="CaixaDeTexto 7">
            <a:extLst>
              <a:ext uri="{FF2B5EF4-FFF2-40B4-BE49-F238E27FC236}">
                <a16:creationId xmlns:a16="http://schemas.microsoft.com/office/drawing/2014/main" id="{74DD74FB-481A-880F-E292-67FE647AEFD0}"/>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21" name="Oval 10">
            <a:extLst>
              <a:ext uri="{FF2B5EF4-FFF2-40B4-BE49-F238E27FC236}">
                <a16:creationId xmlns:a16="http://schemas.microsoft.com/office/drawing/2014/main" id="{F307988E-F8ED-2002-9B61-2237E26981AE}"/>
              </a:ext>
            </a:extLst>
          </p:cNvPr>
          <p:cNvSpPr/>
          <p:nvPr/>
        </p:nvSpPr>
        <p:spPr>
          <a:xfrm>
            <a:off x="581660" y="438175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B5E86B69-796B-A74D-2433-EA3FF9C7606B}"/>
              </a:ext>
            </a:extLst>
          </p:cNvPr>
          <p:cNvSpPr>
            <a:spLocks/>
          </p:cNvSpPr>
          <p:nvPr/>
        </p:nvSpPr>
        <p:spPr>
          <a:xfrm>
            <a:off x="685177" y="449939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 name="CaixaDeTexto 23">
            <a:extLst>
              <a:ext uri="{FF2B5EF4-FFF2-40B4-BE49-F238E27FC236}">
                <a16:creationId xmlns:a16="http://schemas.microsoft.com/office/drawing/2014/main" id="{40441E5E-A66A-BDEC-7A83-F5F2F53AF003}"/>
              </a:ext>
            </a:extLst>
          </p:cNvPr>
          <p:cNvSpPr txBox="1"/>
          <p:nvPr/>
        </p:nvSpPr>
        <p:spPr>
          <a:xfrm>
            <a:off x="1478280" y="4514710"/>
            <a:ext cx="16228060" cy="315536"/>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d</a:t>
            </a:r>
            <a:r>
              <a:rPr lang="pt-BR" sz="1400" kern="100" dirty="0">
                <a:effectLst/>
                <a:latin typeface="Poppins" panose="00000500000000000000" pitchFamily="2" charset="0"/>
                <a:ea typeface="Aptos" panose="020B0004020202020204" pitchFamily="34" charset="0"/>
                <a:cs typeface="Poppins" panose="00000500000000000000" pitchFamily="2" charset="0"/>
              </a:rPr>
              <a:t>ivida a turma em duplas.</a:t>
            </a:r>
            <a:endParaRPr lang="pt-BR"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10" name="Oval 8">
            <a:extLst>
              <a:ext uri="{FF2B5EF4-FFF2-40B4-BE49-F238E27FC236}">
                <a16:creationId xmlns:a16="http://schemas.microsoft.com/office/drawing/2014/main" id="{BA5AFD9F-A524-41DE-A2A9-462A25F7C140}"/>
              </a:ext>
            </a:extLst>
          </p:cNvPr>
          <p:cNvSpPr/>
          <p:nvPr/>
        </p:nvSpPr>
        <p:spPr>
          <a:xfrm>
            <a:off x="601805" y="6712740"/>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D76BE99C-E4D2-F30C-A013-D1809F7242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6793921"/>
            <a:ext cx="312039" cy="400050"/>
          </a:xfrm>
          <a:prstGeom prst="rect">
            <a:avLst/>
          </a:prstGeom>
        </p:spPr>
      </p:pic>
      <p:sp>
        <p:nvSpPr>
          <p:cNvPr id="15" name="CaixaDeTexto 14">
            <a:extLst>
              <a:ext uri="{FF2B5EF4-FFF2-40B4-BE49-F238E27FC236}">
                <a16:creationId xmlns:a16="http://schemas.microsoft.com/office/drawing/2014/main" id="{9958D7AE-42BC-D0E7-DD98-2D2ED8AD48D5}"/>
              </a:ext>
            </a:extLst>
          </p:cNvPr>
          <p:cNvSpPr txBox="1"/>
          <p:nvPr/>
        </p:nvSpPr>
        <p:spPr>
          <a:xfrm>
            <a:off x="1478280" y="6815344"/>
            <a:ext cx="16581120" cy="1882054"/>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projeto deve estar configurado com </a:t>
            </a:r>
            <a:r>
              <a:rPr lang="pt-BR" kern="100" dirty="0" err="1">
                <a:effectLst/>
                <a:latin typeface="Poppins" panose="00000500000000000000" pitchFamily="2" charset="0"/>
                <a:ea typeface="Aptos" panose="020B0004020202020204" pitchFamily="34" charset="0"/>
                <a:cs typeface="Poppins" panose="00000500000000000000" pitchFamily="2" charset="0"/>
              </a:rPr>
              <a:t>Jest</a:t>
            </a:r>
            <a:r>
              <a:rPr lang="pt-BR" kern="100" dirty="0">
                <a:effectLst/>
                <a:latin typeface="Poppins" panose="00000500000000000000" pitchFamily="2" charset="0"/>
                <a:ea typeface="Aptos" panose="020B0004020202020204" pitchFamily="34" charset="0"/>
                <a:cs typeface="Poppins" panose="00000500000000000000" pitchFamily="2" charset="0"/>
              </a:rPr>
              <a:t> para testes unitários e Cypress para testes de interface. Scripts relevantes devem estar configurados no </a:t>
            </a:r>
            <a:r>
              <a:rPr lang="pt-BR" kern="100" dirty="0" err="1">
                <a:effectLst/>
                <a:latin typeface="Poppins" panose="00000500000000000000" pitchFamily="2" charset="0"/>
                <a:ea typeface="Aptos" panose="020B0004020202020204" pitchFamily="34" charset="0"/>
                <a:cs typeface="Poppins" panose="00000500000000000000" pitchFamily="2" charset="0"/>
              </a:rPr>
              <a:t>package.json</a:t>
            </a:r>
            <a:r>
              <a:rPr lang="pt-BR" kern="100" dirty="0">
                <a:effectLst/>
                <a:latin typeface="Poppins" panose="00000500000000000000" pitchFamily="2" charset="0"/>
                <a:ea typeface="Aptos" panose="020B0004020202020204" pitchFamily="34" charset="0"/>
                <a:cs typeface="Poppins" panose="00000500000000000000" pitchFamily="2" charset="0"/>
              </a:rPr>
              <a:t>, permitindo a execução direta dos testes com os comandos: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err="1">
                <a:effectLst/>
                <a:latin typeface="Poppins" panose="00000500000000000000" pitchFamily="2" charset="0"/>
                <a:ea typeface="Aptos" panose="020B0004020202020204" pitchFamily="34" charset="0"/>
                <a:cs typeface="Poppins" panose="00000500000000000000" pitchFamily="2" charset="0"/>
              </a:rPr>
              <a:t>npm</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err="1">
                <a:effectLst/>
                <a:latin typeface="Poppins" panose="00000500000000000000" pitchFamily="2" charset="0"/>
                <a:ea typeface="Aptos" panose="020B0004020202020204" pitchFamily="34" charset="0"/>
                <a:cs typeface="Poppins" panose="00000500000000000000" pitchFamily="2" charset="0"/>
              </a:rPr>
              <a:t>test</a:t>
            </a:r>
            <a:r>
              <a:rPr lang="pt-BR" kern="100" dirty="0">
                <a:effectLst/>
                <a:latin typeface="Poppins" panose="00000500000000000000" pitchFamily="2" charset="0"/>
                <a:ea typeface="Aptos" panose="020B0004020202020204" pitchFamily="34" charset="0"/>
                <a:cs typeface="Poppins" panose="00000500000000000000" pitchFamily="2" charset="0"/>
              </a:rPr>
              <a:t> # Para </a:t>
            </a:r>
            <a:r>
              <a:rPr lang="pt-BR" kern="100" dirty="0" err="1">
                <a:effectLst/>
                <a:latin typeface="Poppins" panose="00000500000000000000" pitchFamily="2" charset="0"/>
                <a:ea typeface="Aptos" panose="020B0004020202020204" pitchFamily="34" charset="0"/>
                <a:cs typeface="Poppins" panose="00000500000000000000" pitchFamily="2" charset="0"/>
              </a:rPr>
              <a:t>Jest</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err="1">
                <a:effectLst/>
                <a:latin typeface="Poppins" panose="00000500000000000000" pitchFamily="2" charset="0"/>
                <a:ea typeface="Aptos" panose="020B0004020202020204" pitchFamily="34" charset="0"/>
                <a:cs typeface="Poppins" panose="00000500000000000000" pitchFamily="2" charset="0"/>
              </a:rPr>
              <a:t>npm</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err="1">
                <a:effectLst/>
                <a:latin typeface="Poppins" panose="00000500000000000000" pitchFamily="2" charset="0"/>
                <a:ea typeface="Aptos" panose="020B0004020202020204" pitchFamily="34" charset="0"/>
                <a:cs typeface="Poppins" panose="00000500000000000000" pitchFamily="2" charset="0"/>
              </a:rPr>
              <a:t>run</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err="1">
                <a:effectLst/>
                <a:latin typeface="Poppins" panose="00000500000000000000" pitchFamily="2" charset="0"/>
                <a:ea typeface="Aptos" panose="020B0004020202020204" pitchFamily="34" charset="0"/>
                <a:cs typeface="Poppins" panose="00000500000000000000" pitchFamily="2" charset="0"/>
              </a:rPr>
              <a:t>cypress:open</a:t>
            </a:r>
            <a:r>
              <a:rPr lang="pt-BR" kern="100" dirty="0">
                <a:effectLst/>
                <a:latin typeface="Poppins" panose="00000500000000000000" pitchFamily="2" charset="0"/>
                <a:ea typeface="Aptos" panose="020B0004020202020204" pitchFamily="34" charset="0"/>
                <a:cs typeface="Poppins" panose="00000500000000000000" pitchFamily="2" charset="0"/>
              </a:rPr>
              <a:t> # Para Cypress</a:t>
            </a:r>
          </a:p>
        </p:txBody>
      </p:sp>
      <p:sp>
        <p:nvSpPr>
          <p:cNvPr id="9" name="CaixaDeTexto 8">
            <a:extLst>
              <a:ext uri="{FF2B5EF4-FFF2-40B4-BE49-F238E27FC236}">
                <a16:creationId xmlns:a16="http://schemas.microsoft.com/office/drawing/2014/main" id="{8333D88D-D910-D276-E72A-0BF2C11D7B9B}"/>
              </a:ext>
            </a:extLst>
          </p:cNvPr>
          <p:cNvSpPr txBox="1"/>
          <p:nvPr/>
        </p:nvSpPr>
        <p:spPr>
          <a:xfrm>
            <a:off x="1219199" y="5421794"/>
            <a:ext cx="15167429" cy="523220"/>
          </a:xfrm>
          <a:prstGeom prst="rect">
            <a:avLst/>
          </a:prstGeom>
          <a:noFill/>
          <a:ln>
            <a:noFill/>
          </a:ln>
        </p:spPr>
        <p:txBody>
          <a:bodyPr wrap="square">
            <a:spAutoFit/>
          </a:bodyPr>
          <a:lstStyle/>
          <a:p>
            <a:pPr marL="228600" indent="0">
              <a:buFont typeface="Arial" panose="020B0604020202020204" pitchFamily="34" charset="0"/>
              <a:buNone/>
            </a:pPr>
            <a:r>
              <a:rPr lang="pt-BR" sz="1400"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sz="1400" kern="100" dirty="0">
                <a:effectLst/>
                <a:latin typeface="Poppins" panose="00000500000000000000" pitchFamily="2" charset="0"/>
                <a:ea typeface="Aptos" panose="020B0004020202020204" pitchFamily="34" charset="0"/>
                <a:cs typeface="Poppins" panose="00000500000000000000" pitchFamily="2" charset="0"/>
              </a:rPr>
              <a:t> incentive os alunos a seguirem o material de apoio, que contém todos os passos para execução do trabalho,  realizando pesquisas para resolver os problemas que poderão aparecer caso falhem em algum passo.</a:t>
            </a:r>
          </a:p>
        </p:txBody>
      </p:sp>
      <p:sp>
        <p:nvSpPr>
          <p:cNvPr id="12" name="Oval 9">
            <a:extLst>
              <a:ext uri="{FF2B5EF4-FFF2-40B4-BE49-F238E27FC236}">
                <a16:creationId xmlns:a16="http://schemas.microsoft.com/office/drawing/2014/main" id="{B18E719D-9CA2-EBB0-4717-D9487183DC95}"/>
              </a:ext>
            </a:extLst>
          </p:cNvPr>
          <p:cNvSpPr/>
          <p:nvPr/>
        </p:nvSpPr>
        <p:spPr>
          <a:xfrm>
            <a:off x="600496" y="540354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6" name="Gráfico 15">
            <a:extLst>
              <a:ext uri="{FF2B5EF4-FFF2-40B4-BE49-F238E27FC236}">
                <a16:creationId xmlns:a16="http://schemas.microsoft.com/office/drawing/2014/main" id="{20965BC5-D122-129E-0C9E-F5883166F4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7195" y="5509226"/>
            <a:ext cx="352944" cy="360965"/>
          </a:xfrm>
          <a:prstGeom prst="rect">
            <a:avLst/>
          </a:prstGeom>
        </p:spPr>
      </p:pic>
      <p:pic>
        <p:nvPicPr>
          <p:cNvPr id="6" name="Imagem 5">
            <a:extLst>
              <a:ext uri="{FF2B5EF4-FFF2-40B4-BE49-F238E27FC236}">
                <a16:creationId xmlns:a16="http://schemas.microsoft.com/office/drawing/2014/main" id="{BF737C6E-0042-1F22-4C56-F3F5DAD12B32}"/>
              </a:ext>
            </a:extLst>
          </p:cNvPr>
          <p:cNvPicPr>
            <a:picLocks noChangeAspect="1"/>
          </p:cNvPicPr>
          <p:nvPr/>
        </p:nvPicPr>
        <p:blipFill>
          <a:blip r:embed="rId6"/>
          <a:stretch>
            <a:fillRect/>
          </a:stretch>
        </p:blipFill>
        <p:spPr>
          <a:xfrm>
            <a:off x="11625586" y="8982242"/>
            <a:ext cx="2616200" cy="609600"/>
          </a:xfrm>
          <a:prstGeom prst="rect">
            <a:avLst/>
          </a:prstGeom>
        </p:spPr>
      </p:pic>
      <p:grpSp>
        <p:nvGrpSpPr>
          <p:cNvPr id="17" name="Gráfico 85">
            <a:extLst>
              <a:ext uri="{FF2B5EF4-FFF2-40B4-BE49-F238E27FC236}">
                <a16:creationId xmlns:a16="http://schemas.microsoft.com/office/drawing/2014/main" id="{CD4B9C76-3BE1-8C9D-442C-AF2FBEDD41A2}"/>
              </a:ext>
            </a:extLst>
          </p:cNvPr>
          <p:cNvGrpSpPr/>
          <p:nvPr/>
        </p:nvGrpSpPr>
        <p:grpSpPr>
          <a:xfrm>
            <a:off x="11976024" y="9108612"/>
            <a:ext cx="1758662" cy="298605"/>
            <a:chOff x="2316209" y="1866988"/>
            <a:chExt cx="1758662" cy="298605"/>
          </a:xfrm>
          <a:solidFill>
            <a:srgbClr val="FFFFFF"/>
          </a:solidFill>
        </p:grpSpPr>
        <p:sp>
          <p:nvSpPr>
            <p:cNvPr id="18" name="Forma Livre 150">
              <a:extLst>
                <a:ext uri="{FF2B5EF4-FFF2-40B4-BE49-F238E27FC236}">
                  <a16:creationId xmlns:a16="http://schemas.microsoft.com/office/drawing/2014/main" id="{6A56C5E6-A8D9-A5C0-A608-D9C402264C75}"/>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a:p>
          </p:txBody>
        </p:sp>
        <p:sp>
          <p:nvSpPr>
            <p:cNvPr id="19" name="Forma Livre 151">
              <a:extLst>
                <a:ext uri="{FF2B5EF4-FFF2-40B4-BE49-F238E27FC236}">
                  <a16:creationId xmlns:a16="http://schemas.microsoft.com/office/drawing/2014/main" id="{9E88D080-02F8-76DD-5118-3F97B998B86E}"/>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a:p>
          </p:txBody>
        </p:sp>
        <p:sp>
          <p:nvSpPr>
            <p:cNvPr id="23" name="Forma Livre 152">
              <a:extLst>
                <a:ext uri="{FF2B5EF4-FFF2-40B4-BE49-F238E27FC236}">
                  <a16:creationId xmlns:a16="http://schemas.microsoft.com/office/drawing/2014/main" id="{98622066-B107-E858-A4BC-36B42D911E9F}"/>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25" name="Forma Livre 153">
              <a:extLst>
                <a:ext uri="{FF2B5EF4-FFF2-40B4-BE49-F238E27FC236}">
                  <a16:creationId xmlns:a16="http://schemas.microsoft.com/office/drawing/2014/main" id="{CD3D09D9-390C-CBC7-3F95-251543C5732B}"/>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a:p>
          </p:txBody>
        </p:sp>
        <p:sp>
          <p:nvSpPr>
            <p:cNvPr id="26" name="Forma Livre 154">
              <a:extLst>
                <a:ext uri="{FF2B5EF4-FFF2-40B4-BE49-F238E27FC236}">
                  <a16:creationId xmlns:a16="http://schemas.microsoft.com/office/drawing/2014/main" id="{6131D4C2-A987-74CE-6CA0-2ED4D6E9ECAB}"/>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a:p>
          </p:txBody>
        </p:sp>
        <p:sp>
          <p:nvSpPr>
            <p:cNvPr id="27" name="Forma Livre 155">
              <a:extLst>
                <a:ext uri="{FF2B5EF4-FFF2-40B4-BE49-F238E27FC236}">
                  <a16:creationId xmlns:a16="http://schemas.microsoft.com/office/drawing/2014/main" id="{5A482D0A-6FE3-D5C0-8565-7B3BADE7F6C9}"/>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28" name="Forma Livre 156">
              <a:extLst>
                <a:ext uri="{FF2B5EF4-FFF2-40B4-BE49-F238E27FC236}">
                  <a16:creationId xmlns:a16="http://schemas.microsoft.com/office/drawing/2014/main" id="{04691085-0FC3-5FF8-8C1B-201E0A72EA30}"/>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a:p>
          </p:txBody>
        </p:sp>
        <p:sp>
          <p:nvSpPr>
            <p:cNvPr id="29" name="Forma Livre 157">
              <a:extLst>
                <a:ext uri="{FF2B5EF4-FFF2-40B4-BE49-F238E27FC236}">
                  <a16:creationId xmlns:a16="http://schemas.microsoft.com/office/drawing/2014/main" id="{990399FE-5D22-9925-95F6-A1532FC710E5}"/>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a:p>
          </p:txBody>
        </p:sp>
      </p:grpSp>
    </p:spTree>
    <p:extLst>
      <p:ext uri="{BB962C8B-B14F-4D97-AF65-F5344CB8AC3E}">
        <p14:creationId xmlns:p14="http://schemas.microsoft.com/office/powerpoint/2010/main" val="1076226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7B3B8A-E8E1-588B-4AC3-16C5B20AFF13}"/>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ABC23C4-AF53-937F-81F7-F7D6B0396477}"/>
              </a:ext>
            </a:extLst>
          </p:cNvPr>
          <p:cNvCxnSpPr>
            <a:cxnSpLocks/>
          </p:cNvCxnSpPr>
          <p:nvPr/>
        </p:nvCxnSpPr>
        <p:spPr>
          <a:xfrm flipV="1">
            <a:off x="868312" y="1712979"/>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0E5FC72B-7350-7649-AC2A-7EF38DB4935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3">
            <a:extLst>
              <a:ext uri="{FF2B5EF4-FFF2-40B4-BE49-F238E27FC236}">
                <a16:creationId xmlns:a16="http://schemas.microsoft.com/office/drawing/2014/main" id="{2374595E-3A84-41F6-2577-492ABB2DE2BA}"/>
              </a:ext>
            </a:extLst>
          </p:cNvPr>
          <p:cNvSpPr txBox="1"/>
          <p:nvPr/>
        </p:nvSpPr>
        <p:spPr>
          <a:xfrm>
            <a:off x="1478280" y="2146575"/>
            <a:ext cx="15377160" cy="634019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dirty="0">
                <a:latin typeface="Poppins" panose="00000500000000000000" pitchFamily="2" charset="0"/>
                <a:cs typeface="Poppins" panose="00000500000000000000" pitchFamily="2" charset="0"/>
              </a:rPr>
              <a:t>Testes unitários com </a:t>
            </a:r>
            <a:r>
              <a:rPr lang="pt-BR" dirty="0" err="1">
                <a:latin typeface="Poppins" panose="00000500000000000000" pitchFamily="2" charset="0"/>
                <a:cs typeface="Poppins" panose="00000500000000000000" pitchFamily="2" charset="0"/>
              </a:rPr>
              <a:t>Jest</a:t>
            </a:r>
            <a:endParaRPr lang="pt-BR" dirty="0">
              <a:latin typeface="Poppins" panose="00000500000000000000" pitchFamily="2" charset="0"/>
              <a:cs typeface="Poppins" panose="00000500000000000000" pitchFamily="2" charset="0"/>
            </a:endParaRP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Pelo menos dois testes bem-sucedidos no </a:t>
            </a:r>
            <a:r>
              <a:rPr lang="pt-BR" dirty="0" err="1">
                <a:latin typeface="Poppins" panose="00000500000000000000" pitchFamily="2" charset="0"/>
                <a:cs typeface="Poppins" panose="00000500000000000000" pitchFamily="2" charset="0"/>
              </a:rPr>
              <a:t>Jest</a:t>
            </a:r>
            <a:r>
              <a:rPr lang="pt-BR" dirty="0">
                <a:latin typeface="Poppins" panose="00000500000000000000" pitchFamily="2" charset="0"/>
                <a:cs typeface="Poppins" panose="00000500000000000000" pitchFamily="2" charset="0"/>
              </a:rPr>
              <a:t> para uma função fornecida (como sum): verificar a saída correta para entradas válidas.</a:t>
            </a:r>
          </a:p>
          <a:p>
            <a:pPr>
              <a:buClrTx/>
              <a:defRPr/>
            </a:pPr>
            <a:r>
              <a:rPr lang="pt-BR" dirty="0">
                <a:latin typeface="Poppins" panose="00000500000000000000" pitchFamily="2" charset="0"/>
                <a:cs typeface="Poppins" panose="00000500000000000000" pitchFamily="2" charset="0"/>
              </a:rPr>
              <a:t>Confirmar que erros são lançados ao passar entradas inválidas.</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Exemplo esperado de saída ao rodar os testes com </a:t>
            </a:r>
            <a:r>
              <a:rPr lang="pt-BR" dirty="0" err="1">
                <a:latin typeface="Poppins" panose="00000500000000000000" pitchFamily="2" charset="0"/>
                <a:cs typeface="Poppins" panose="00000500000000000000" pitchFamily="2" charset="0"/>
              </a:rPr>
              <a:t>Jest</a:t>
            </a: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PASS  </a:t>
            </a:r>
            <a:r>
              <a:rPr lang="pt-BR" dirty="0" err="1">
                <a:latin typeface="Poppins" panose="00000500000000000000" pitchFamily="2" charset="0"/>
                <a:cs typeface="Poppins" panose="00000500000000000000" pitchFamily="2" charset="0"/>
              </a:rPr>
              <a:t>tests</a:t>
            </a:r>
            <a:r>
              <a:rPr lang="pt-BR" dirty="0">
                <a:latin typeface="Poppins" panose="00000500000000000000" pitchFamily="2" charset="0"/>
                <a:cs typeface="Poppins" panose="00000500000000000000" pitchFamily="2" charset="0"/>
              </a:rPr>
              <a:t>/sum.test.js</a:t>
            </a:r>
          </a:p>
          <a:p>
            <a:pPr>
              <a:buClrTx/>
              <a:defRPr/>
            </a:pPr>
            <a:r>
              <a:rPr lang="pt-BR" dirty="0">
                <a:latin typeface="Poppins" panose="00000500000000000000" pitchFamily="2" charset="0"/>
                <a:cs typeface="Poppins" panose="00000500000000000000" pitchFamily="2" charset="0"/>
              </a:rPr>
              <a:t>  ✓ Soma dois números corretamente (2 </a:t>
            </a:r>
            <a:r>
              <a:rPr lang="pt-BR" dirty="0" err="1">
                <a:latin typeface="Poppins" panose="00000500000000000000" pitchFamily="2" charset="0"/>
                <a:cs typeface="Poppins" panose="00000500000000000000" pitchFamily="2" charset="0"/>
              </a:rPr>
              <a:t>ms</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  ✓ Lança erro ao passar parâmetros não numéricos (1 </a:t>
            </a:r>
            <a:r>
              <a:rPr lang="pt-BR" dirty="0" err="1">
                <a:latin typeface="Poppins" panose="00000500000000000000" pitchFamily="2" charset="0"/>
                <a:cs typeface="Poppins" panose="00000500000000000000" pitchFamily="2" charset="0"/>
              </a:rPr>
              <a:t>ms</a:t>
            </a: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Testes de interface com Cypress</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Exemplo esperado de saída ao rodar os testes com Cypress:</a:t>
            </a:r>
          </a:p>
          <a:p>
            <a:pPr>
              <a:buClrTx/>
              <a:defRPr/>
            </a:pPr>
            <a:r>
              <a:rPr lang="pt-BR" dirty="0">
                <a:latin typeface="Poppins" panose="00000500000000000000" pitchFamily="2" charset="0"/>
                <a:cs typeface="Poppins" panose="00000500000000000000" pitchFamily="2" charset="0"/>
              </a:rPr>
              <a:t>Gerenciador de tarefas</a:t>
            </a:r>
          </a:p>
          <a:p>
            <a:pPr>
              <a:buClrTx/>
              <a:defRPr/>
            </a:pPr>
            <a:r>
              <a:rPr lang="pt-BR" dirty="0">
                <a:latin typeface="Poppins" panose="00000500000000000000" pitchFamily="2" charset="0"/>
                <a:cs typeface="Poppins" panose="00000500000000000000" pitchFamily="2" charset="0"/>
              </a:rPr>
              <a:t>  ✓ Adiciona uma nova tarefa (500 </a:t>
            </a:r>
            <a:r>
              <a:rPr lang="pt-BR" dirty="0" err="1">
                <a:latin typeface="Poppins" panose="00000500000000000000" pitchFamily="2" charset="0"/>
                <a:cs typeface="Poppins" panose="00000500000000000000" pitchFamily="2" charset="0"/>
              </a:rPr>
              <a:t>ms</a:t>
            </a: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Exemplo esperado de cobertura: um relatório básico de cobertura gerado pelo </a:t>
            </a:r>
            <a:r>
              <a:rPr lang="pt-BR" dirty="0" err="1">
                <a:latin typeface="Poppins" panose="00000500000000000000" pitchFamily="2" charset="0"/>
                <a:cs typeface="Poppins" panose="00000500000000000000" pitchFamily="2" charset="0"/>
              </a:rPr>
              <a:t>Jest</a:t>
            </a:r>
            <a:r>
              <a:rPr lang="pt-BR" dirty="0">
                <a:latin typeface="Poppins" panose="00000500000000000000" pitchFamily="2" charset="0"/>
                <a:cs typeface="Poppins" panose="00000500000000000000" pitchFamily="2" charset="0"/>
              </a:rPr>
              <a:t> após execução com --</a:t>
            </a:r>
            <a:r>
              <a:rPr lang="pt-BR" dirty="0" err="1">
                <a:latin typeface="Poppins" panose="00000500000000000000" pitchFamily="2" charset="0"/>
                <a:cs typeface="Poppins" panose="00000500000000000000" pitchFamily="2" charset="0"/>
              </a:rPr>
              <a:t>coverage</a:t>
            </a: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File             | % </a:t>
            </a:r>
            <a:r>
              <a:rPr lang="pt-BR" dirty="0" err="1">
                <a:latin typeface="Poppins" panose="00000500000000000000" pitchFamily="2" charset="0"/>
                <a:cs typeface="Poppins" panose="00000500000000000000" pitchFamily="2" charset="0"/>
              </a:rPr>
              <a:t>Stmts</a:t>
            </a:r>
            <a:r>
              <a:rPr lang="pt-BR" dirty="0">
                <a:latin typeface="Poppins" panose="00000500000000000000" pitchFamily="2" charset="0"/>
                <a:cs typeface="Poppins" panose="00000500000000000000" pitchFamily="2" charset="0"/>
              </a:rPr>
              <a:t> | % Branch | % </a:t>
            </a:r>
            <a:r>
              <a:rPr lang="pt-BR" dirty="0" err="1">
                <a:latin typeface="Poppins" panose="00000500000000000000" pitchFamily="2" charset="0"/>
                <a:cs typeface="Poppins" panose="00000500000000000000" pitchFamily="2" charset="0"/>
              </a:rPr>
              <a:t>Funcs</a:t>
            </a:r>
            <a:r>
              <a:rPr lang="pt-BR" dirty="0">
                <a:latin typeface="Poppins" panose="00000500000000000000" pitchFamily="2" charset="0"/>
                <a:cs typeface="Poppins" panose="00000500000000000000" pitchFamily="2" charset="0"/>
              </a:rPr>
              <a:t> | % Lines | </a:t>
            </a:r>
            <a:r>
              <a:rPr lang="pt-BR" dirty="0" err="1">
                <a:latin typeface="Poppins" panose="00000500000000000000" pitchFamily="2" charset="0"/>
                <a:cs typeface="Poppins" panose="00000500000000000000" pitchFamily="2" charset="0"/>
              </a:rPr>
              <a:t>Uncovered</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Line</a:t>
            </a:r>
            <a:r>
              <a:rPr lang="pt-BR" dirty="0">
                <a:latin typeface="Poppins" panose="00000500000000000000" pitchFamily="2" charset="0"/>
                <a:cs typeface="Poppins" panose="00000500000000000000" pitchFamily="2" charset="0"/>
              </a:rPr>
              <a:t> #s</a:t>
            </a:r>
          </a:p>
          <a:p>
            <a:pPr>
              <a:buClrTx/>
              <a:defRPr/>
            </a:pPr>
            <a:r>
              <a:rPr lang="pt-BR" dirty="0">
                <a:latin typeface="Poppins" panose="00000500000000000000" pitchFamily="2" charset="0"/>
                <a:cs typeface="Poppins" panose="00000500000000000000" pitchFamily="2" charset="0"/>
              </a:rPr>
              <a:t>-----------------|---------|----------|---------|---------|-------------------</a:t>
            </a:r>
          </a:p>
          <a:p>
            <a:pPr>
              <a:buClrTx/>
              <a:defRPr/>
            </a:pPr>
            <a:r>
              <a:rPr lang="pt-BR" dirty="0" err="1">
                <a:latin typeface="Poppins" panose="00000500000000000000" pitchFamily="2" charset="0"/>
                <a:cs typeface="Poppins" panose="00000500000000000000" pitchFamily="2" charset="0"/>
              </a:rPr>
              <a:t>All</a:t>
            </a:r>
            <a:r>
              <a:rPr lang="pt-BR" dirty="0">
                <a:latin typeface="Poppins" panose="00000500000000000000" pitchFamily="2" charset="0"/>
                <a:cs typeface="Poppins" panose="00000500000000000000" pitchFamily="2" charset="0"/>
              </a:rPr>
              <a:t> files        |     100 |      100 |     100 |     100 |</a:t>
            </a:r>
          </a:p>
          <a:p>
            <a:pPr>
              <a:buClrTx/>
              <a:defRPr/>
            </a:pPr>
            <a:r>
              <a:rPr lang="pt-BR" dirty="0">
                <a:latin typeface="Poppins" panose="00000500000000000000" pitchFamily="2" charset="0"/>
                <a:cs typeface="Poppins" panose="00000500000000000000" pitchFamily="2" charset="0"/>
              </a:rPr>
              <a:t> sum.js          |     100 |      100 |     100 |     100 |</a:t>
            </a:r>
          </a:p>
          <a:p>
            <a:pPr>
              <a:buClrTx/>
              <a:defRPr/>
            </a:pP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Test </a:t>
            </a:r>
            <a:r>
              <a:rPr lang="pt-BR" dirty="0" err="1">
                <a:latin typeface="Poppins" panose="00000500000000000000" pitchFamily="2" charset="0"/>
                <a:cs typeface="Poppins" panose="00000500000000000000" pitchFamily="2" charset="0"/>
              </a:rPr>
              <a:t>Suites</a:t>
            </a:r>
            <a:r>
              <a:rPr lang="pt-BR" dirty="0">
                <a:latin typeface="Poppins" panose="00000500000000000000" pitchFamily="2" charset="0"/>
                <a:cs typeface="Poppins" panose="00000500000000000000" pitchFamily="2" charset="0"/>
              </a:rPr>
              <a:t>: 1 </a:t>
            </a:r>
            <a:r>
              <a:rPr lang="pt-BR" dirty="0" err="1">
                <a:latin typeface="Poppins" panose="00000500000000000000" pitchFamily="2" charset="0"/>
                <a:cs typeface="Poppins" panose="00000500000000000000" pitchFamily="2" charset="0"/>
              </a:rPr>
              <a:t>passed</a:t>
            </a:r>
            <a:r>
              <a:rPr lang="pt-BR" dirty="0">
                <a:latin typeface="Poppins" panose="00000500000000000000" pitchFamily="2" charset="0"/>
                <a:cs typeface="Poppins" panose="00000500000000000000" pitchFamily="2" charset="0"/>
              </a:rPr>
              <a:t>, 1 total</a:t>
            </a:r>
          </a:p>
          <a:p>
            <a:pPr>
              <a:buClrTx/>
              <a:defRPr/>
            </a:pPr>
            <a:r>
              <a:rPr lang="pt-BR" dirty="0" err="1">
                <a:latin typeface="Poppins" panose="00000500000000000000" pitchFamily="2" charset="0"/>
                <a:cs typeface="Poppins" panose="00000500000000000000" pitchFamily="2" charset="0"/>
              </a:rPr>
              <a:t>Tests</a:t>
            </a:r>
            <a:r>
              <a:rPr lang="pt-BR" dirty="0">
                <a:latin typeface="Poppins" panose="00000500000000000000" pitchFamily="2" charset="0"/>
                <a:cs typeface="Poppins" panose="00000500000000000000" pitchFamily="2" charset="0"/>
              </a:rPr>
              <a:t>:       2 </a:t>
            </a:r>
            <a:r>
              <a:rPr lang="pt-BR" dirty="0" err="1">
                <a:latin typeface="Poppins" panose="00000500000000000000" pitchFamily="2" charset="0"/>
                <a:cs typeface="Poppins" panose="00000500000000000000" pitchFamily="2" charset="0"/>
              </a:rPr>
              <a:t>passed</a:t>
            </a:r>
            <a:r>
              <a:rPr lang="pt-BR" dirty="0">
                <a:latin typeface="Poppins" panose="00000500000000000000" pitchFamily="2" charset="0"/>
                <a:cs typeface="Poppins" panose="00000500000000000000" pitchFamily="2" charset="0"/>
              </a:rPr>
              <a:t>, 2 total</a:t>
            </a:r>
          </a:p>
          <a:p>
            <a:pPr>
              <a:buClrTx/>
              <a:defRPr/>
            </a:pPr>
            <a:r>
              <a:rPr lang="pt-BR" dirty="0">
                <a:latin typeface="Poppins" panose="00000500000000000000" pitchFamily="2" charset="0"/>
                <a:cs typeface="Poppins" panose="00000500000000000000" pitchFamily="2" charset="0"/>
              </a:rPr>
              <a:t>Snapshots:   0 total</a:t>
            </a:r>
          </a:p>
          <a:p>
            <a:pPr>
              <a:buClrTx/>
              <a:defRPr/>
            </a:pPr>
            <a:r>
              <a:rPr lang="pt-BR" dirty="0">
                <a:latin typeface="Poppins" panose="00000500000000000000" pitchFamily="2" charset="0"/>
                <a:cs typeface="Poppins" panose="00000500000000000000" pitchFamily="2" charset="0"/>
              </a:rPr>
              <a:t>Time:        1.218 s</a:t>
            </a:r>
            <a:endParaRPr lang="pt-BR" dirty="0"/>
          </a:p>
        </p:txBody>
      </p:sp>
      <p:sp>
        <p:nvSpPr>
          <p:cNvPr id="8" name="CaixaDeTexto 7">
            <a:extLst>
              <a:ext uri="{FF2B5EF4-FFF2-40B4-BE49-F238E27FC236}">
                <a16:creationId xmlns:a16="http://schemas.microsoft.com/office/drawing/2014/main" id="{D569FC5C-2E1F-9427-9C6B-BC5452F07C70}"/>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6" name="Oval 8">
            <a:extLst>
              <a:ext uri="{FF2B5EF4-FFF2-40B4-BE49-F238E27FC236}">
                <a16:creationId xmlns:a16="http://schemas.microsoft.com/office/drawing/2014/main" id="{8AC26CCF-1370-F70D-E80E-A5D8001DE5D1}"/>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A68232EA-9292-54CC-727B-D60AD4AFD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spTree>
    <p:extLst>
      <p:ext uri="{BB962C8B-B14F-4D97-AF65-F5344CB8AC3E}">
        <p14:creationId xmlns:p14="http://schemas.microsoft.com/office/powerpoint/2010/main" val="943549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3C320C-E85C-2A25-01D0-14E80086B4BC}"/>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4BCE987F-0261-7B17-DEDC-54E5126EB5C1}"/>
              </a:ext>
            </a:extLst>
          </p:cNvPr>
          <p:cNvCxnSpPr>
            <a:cxnSpLocks/>
          </p:cNvCxnSpPr>
          <p:nvPr/>
        </p:nvCxnSpPr>
        <p:spPr>
          <a:xfrm flipV="1">
            <a:off x="868312" y="1666087"/>
            <a:ext cx="0" cy="409860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DE8C7C4B-AEA4-1F68-D9A5-42B1F56D16B6}"/>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7D26117-789C-A18F-D975-A3DB3577DE01}"/>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7 e 8</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7BF3A750-7A1C-B49C-D4DA-BB12A10EC0A4}"/>
              </a:ext>
            </a:extLst>
          </p:cNvPr>
          <p:cNvSpPr txBox="1"/>
          <p:nvPr/>
        </p:nvSpPr>
        <p:spPr>
          <a:xfrm>
            <a:off x="1478280" y="2222775"/>
            <a:ext cx="15377160" cy="30777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a:cs typeface="Poppins"/>
              </a:rPr>
              <a:t>Tempo:  </a:t>
            </a:r>
            <a:r>
              <a:rPr lang="pt-BR" dirty="0">
                <a:latin typeface="Poppins"/>
                <a:cs typeface="Poppins"/>
              </a:rPr>
              <a:t>3 minutos.</a:t>
            </a:r>
          </a:p>
        </p:txBody>
      </p:sp>
      <p:sp>
        <p:nvSpPr>
          <p:cNvPr id="19" name="Oval 11">
            <a:extLst>
              <a:ext uri="{FF2B5EF4-FFF2-40B4-BE49-F238E27FC236}">
                <a16:creationId xmlns:a16="http://schemas.microsoft.com/office/drawing/2014/main" id="{1AE79E3F-64B3-B315-CC8F-A46B08FB1EB2}"/>
              </a:ext>
            </a:extLst>
          </p:cNvPr>
          <p:cNvSpPr/>
          <p:nvPr/>
        </p:nvSpPr>
        <p:spPr>
          <a:xfrm>
            <a:off x="603432" y="207143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21" name="Imagem 20">
            <a:extLst>
              <a:ext uri="{FF2B5EF4-FFF2-40B4-BE49-F238E27FC236}">
                <a16:creationId xmlns:a16="http://schemas.microsoft.com/office/drawing/2014/main" id="{0DB436DA-B86E-4B63-3A9C-33CBFB0230C1}"/>
              </a:ext>
            </a:extLst>
          </p:cNvPr>
          <p:cNvPicPr>
            <a:picLocks noChangeAspect="1"/>
          </p:cNvPicPr>
          <p:nvPr/>
        </p:nvPicPr>
        <p:blipFill>
          <a:blip r:embed="rId3"/>
          <a:srcRect/>
          <a:stretch/>
        </p:blipFill>
        <p:spPr>
          <a:xfrm>
            <a:off x="778969" y="2215615"/>
            <a:ext cx="235287" cy="282344"/>
          </a:xfrm>
          <a:prstGeom prst="rect">
            <a:avLst/>
          </a:prstGeom>
        </p:spPr>
      </p:pic>
      <p:sp>
        <p:nvSpPr>
          <p:cNvPr id="26" name="CaixaDeTexto 25">
            <a:extLst>
              <a:ext uri="{FF2B5EF4-FFF2-40B4-BE49-F238E27FC236}">
                <a16:creationId xmlns:a16="http://schemas.microsoft.com/office/drawing/2014/main" id="{9F987D56-C1B5-6927-AC72-0C1D37579872}"/>
              </a:ext>
            </a:extLst>
          </p:cNvPr>
          <p:cNvSpPr txBox="1"/>
          <p:nvPr/>
        </p:nvSpPr>
        <p:spPr>
          <a:xfrm>
            <a:off x="1478279" y="3124424"/>
            <a:ext cx="16805783" cy="2893100"/>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Feedback AVA: </a:t>
            </a:r>
          </a:p>
          <a:p>
            <a:r>
              <a:rPr lang="pt-BR" dirty="0">
                <a:solidFill>
                  <a:schemeClr val="tx1"/>
                </a:solidFill>
                <a:latin typeface="Poppins" panose="00000500000000000000" pitchFamily="2" charset="0"/>
                <a:cs typeface="Poppins" panose="00000500000000000000" pitchFamily="2" charset="0"/>
              </a:rPr>
              <a:t>Correto! O </a:t>
            </a:r>
            <a:r>
              <a:rPr lang="pt-BR" dirty="0" err="1">
                <a:solidFill>
                  <a:schemeClr val="tx1"/>
                </a:solidFill>
                <a:latin typeface="Poppins" panose="00000500000000000000" pitchFamily="2" charset="0"/>
                <a:cs typeface="Poppins" panose="00000500000000000000" pitchFamily="2" charset="0"/>
              </a:rPr>
              <a:t>Jest</a:t>
            </a:r>
            <a:r>
              <a:rPr lang="pt-BR" dirty="0">
                <a:solidFill>
                  <a:schemeClr val="tx1"/>
                </a:solidFill>
                <a:latin typeface="Poppins" panose="00000500000000000000" pitchFamily="2" charset="0"/>
                <a:cs typeface="Poppins" panose="00000500000000000000" pitchFamily="2" charset="0"/>
              </a:rPr>
              <a:t> é uma ferramenta de testes unitários que ajuda a verificar a lógica de funções e componentes em um projeto.</a:t>
            </a:r>
          </a:p>
          <a:p>
            <a:endParaRPr lang="pt-BR" b="1" dirty="0">
              <a:latin typeface="Poppins" panose="00000500000000000000" pitchFamily="2" charset="0"/>
              <a:cs typeface="Poppins" panose="00000500000000000000" pitchFamily="2" charset="0"/>
            </a:endParaRPr>
          </a:p>
          <a:p>
            <a:r>
              <a:rPr lang="pt-BR" b="1" dirty="0">
                <a:latin typeface="Poppins" panose="00000500000000000000" pitchFamily="2" charset="0"/>
                <a:cs typeface="Poppins" panose="00000500000000000000" pitchFamily="2" charset="0"/>
              </a:rPr>
              <a:t>Feedback geral:</a:t>
            </a:r>
          </a:p>
          <a:p>
            <a:endParaRPr lang="pt-BR" b="1"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Validar a aparência de elementos da interface. Errado. </a:t>
            </a:r>
            <a:r>
              <a:rPr lang="pt-BR" dirty="0" err="1">
                <a:solidFill>
                  <a:schemeClr val="tx1"/>
                </a:solidFill>
                <a:latin typeface="Poppins" panose="00000500000000000000" pitchFamily="2" charset="0"/>
                <a:cs typeface="Poppins" panose="00000500000000000000" pitchFamily="2" charset="0"/>
              </a:rPr>
              <a:t>Jest</a:t>
            </a:r>
            <a:r>
              <a:rPr lang="pt-BR" dirty="0">
                <a:solidFill>
                  <a:schemeClr val="tx1"/>
                </a:solidFill>
                <a:latin typeface="Poppins" panose="00000500000000000000" pitchFamily="2" charset="0"/>
                <a:cs typeface="Poppins" panose="00000500000000000000" pitchFamily="2" charset="0"/>
              </a:rPr>
              <a:t> não é utilizado para testar a interface, mas para validar a lógica do código através de testes unitários.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Executar testes de integração entre diferentes componentes. Errado. </a:t>
            </a:r>
            <a:r>
              <a:rPr lang="pt-BR" dirty="0" err="1">
                <a:solidFill>
                  <a:schemeClr val="tx1"/>
                </a:solidFill>
                <a:latin typeface="Poppins" panose="00000500000000000000" pitchFamily="2" charset="0"/>
                <a:cs typeface="Poppins" panose="00000500000000000000" pitchFamily="2" charset="0"/>
              </a:rPr>
              <a:t>Jest</a:t>
            </a:r>
            <a:r>
              <a:rPr lang="pt-BR" dirty="0">
                <a:solidFill>
                  <a:schemeClr val="tx1"/>
                </a:solidFill>
                <a:latin typeface="Poppins" panose="00000500000000000000" pitchFamily="2" charset="0"/>
                <a:cs typeface="Poppins" panose="00000500000000000000" pitchFamily="2" charset="0"/>
              </a:rPr>
              <a:t> pode ser usado para testes de integração, mas seu principal foco é em testes unitários.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Realizar testes unitários para validar a lógica do código. Correto! O </a:t>
            </a:r>
            <a:r>
              <a:rPr lang="pt-BR" dirty="0" err="1">
                <a:solidFill>
                  <a:schemeClr val="tx1"/>
                </a:solidFill>
                <a:latin typeface="Poppins" panose="00000500000000000000" pitchFamily="2" charset="0"/>
                <a:cs typeface="Poppins" panose="00000500000000000000" pitchFamily="2" charset="0"/>
              </a:rPr>
              <a:t>Jest</a:t>
            </a:r>
            <a:r>
              <a:rPr lang="pt-BR" dirty="0">
                <a:solidFill>
                  <a:schemeClr val="tx1"/>
                </a:solidFill>
                <a:latin typeface="Poppins" panose="00000500000000000000" pitchFamily="2" charset="0"/>
                <a:cs typeface="Poppins" panose="00000500000000000000" pitchFamily="2" charset="0"/>
              </a:rPr>
              <a:t> é uma ferramenta de testes unitários que ajuda a verificar a lógica de funções e componentes em um projeto.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Testar interações do usuário com a interface gráfica. Errado. Testes de interação do usuário são feitos principalmente com ferramentas como Cypress.</a:t>
            </a:r>
          </a:p>
          <a:p>
            <a:pPr marL="0" lvl="0" indent="0" algn="l" rtl="0">
              <a:lnSpc>
                <a:spcPct val="100000"/>
              </a:lnSpc>
              <a:spcBef>
                <a:spcPts val="0"/>
              </a:spcBef>
              <a:spcAft>
                <a:spcPts val="0"/>
              </a:spcAft>
              <a:buSzPts val="1400"/>
              <a:buNone/>
            </a:pPr>
            <a:endParaRPr lang="pt-BR" dirty="0">
              <a:latin typeface="Poppins" panose="00000500000000000000" pitchFamily="2" charset="0"/>
              <a:cs typeface="Poppins" panose="00000500000000000000" pitchFamily="2" charset="0"/>
            </a:endParaRPr>
          </a:p>
        </p:txBody>
      </p:sp>
      <p:sp>
        <p:nvSpPr>
          <p:cNvPr id="27" name="Oval 8">
            <a:extLst>
              <a:ext uri="{FF2B5EF4-FFF2-40B4-BE49-F238E27FC236}">
                <a16:creationId xmlns:a16="http://schemas.microsoft.com/office/drawing/2014/main" id="{92B2957C-CE33-E5CF-0877-04FCB4765FEB}"/>
              </a:ext>
            </a:extLst>
          </p:cNvPr>
          <p:cNvSpPr/>
          <p:nvPr/>
        </p:nvSpPr>
        <p:spPr>
          <a:xfrm>
            <a:off x="606105" y="298565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8" name="Gráfico 27">
            <a:extLst>
              <a:ext uri="{FF2B5EF4-FFF2-40B4-BE49-F238E27FC236}">
                <a16:creationId xmlns:a16="http://schemas.microsoft.com/office/drawing/2014/main" id="{56B9FA5C-9A30-EFCF-57DA-740DF9F40B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2017" y="3066839"/>
            <a:ext cx="312039" cy="400050"/>
          </a:xfrm>
          <a:prstGeom prst="rect">
            <a:avLst/>
          </a:prstGeom>
        </p:spPr>
      </p:pic>
    </p:spTree>
    <p:extLst>
      <p:ext uri="{BB962C8B-B14F-4D97-AF65-F5344CB8AC3E}">
        <p14:creationId xmlns:p14="http://schemas.microsoft.com/office/powerpoint/2010/main" val="1322798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648F11-0FA5-BD65-BCA7-F456F4872CA6}"/>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F30EE688-D6C2-AC8D-C241-1F01BA24B814}"/>
              </a:ext>
            </a:extLst>
          </p:cNvPr>
          <p:cNvCxnSpPr>
            <a:cxnSpLocks/>
          </p:cNvCxnSpPr>
          <p:nvPr/>
        </p:nvCxnSpPr>
        <p:spPr>
          <a:xfrm flipV="1">
            <a:off x="868312" y="1712979"/>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B6599FF6-2FF8-B991-5A3C-0C27CD901617}"/>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018E1895-108F-B35E-1612-813C7730E01F}"/>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9 e 10</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34CC8623-25E3-E5A9-66C9-0D7FA9E6A58C}"/>
              </a:ext>
            </a:extLst>
          </p:cNvPr>
          <p:cNvSpPr txBox="1"/>
          <p:nvPr/>
        </p:nvSpPr>
        <p:spPr>
          <a:xfrm>
            <a:off x="1478280" y="2032275"/>
            <a:ext cx="15800069" cy="353943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400"/>
              <a:defRPr/>
            </a:pPr>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Correto! O comando --</a:t>
            </a:r>
            <a:r>
              <a:rPr lang="pt-BR" dirty="0" err="1">
                <a:latin typeface="Poppins"/>
                <a:cs typeface="Poppins"/>
              </a:rPr>
              <a:t>coverage</a:t>
            </a:r>
            <a:r>
              <a:rPr lang="pt-BR" dirty="0">
                <a:latin typeface="Poppins"/>
                <a:cs typeface="Poppins"/>
              </a:rPr>
              <a:t> no </a:t>
            </a:r>
            <a:r>
              <a:rPr lang="pt-BR" dirty="0" err="1">
                <a:latin typeface="Poppins"/>
                <a:cs typeface="Poppins"/>
              </a:rPr>
              <a:t>Jest</a:t>
            </a:r>
            <a:r>
              <a:rPr lang="pt-BR" dirty="0">
                <a:latin typeface="Poppins"/>
                <a:cs typeface="Poppins"/>
              </a:rPr>
              <a:t> gera um relatório que mostra a porcentagem de cobertura de código durante a execução dos testes.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panose="00000500000000000000" pitchFamily="2" charset="0"/>
                <a:cs typeface="Poppins" panose="00000500000000000000" pitchFamily="2" charset="0"/>
              </a:rPr>
              <a:t>Feedback geral: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Executa os testes e gera um relatório de cobertura de código. Correto! O comando --</a:t>
            </a:r>
            <a:r>
              <a:rPr lang="pt-BR" dirty="0" err="1">
                <a:latin typeface="Poppins"/>
                <a:cs typeface="Poppins"/>
              </a:rPr>
              <a:t>coverage</a:t>
            </a:r>
            <a:r>
              <a:rPr lang="pt-BR" dirty="0">
                <a:latin typeface="Poppins"/>
                <a:cs typeface="Poppins"/>
              </a:rPr>
              <a:t> no </a:t>
            </a:r>
            <a:r>
              <a:rPr lang="pt-BR" dirty="0" err="1">
                <a:latin typeface="Poppins"/>
                <a:cs typeface="Poppins"/>
              </a:rPr>
              <a:t>Jest</a:t>
            </a:r>
            <a:r>
              <a:rPr lang="pt-BR" dirty="0">
                <a:latin typeface="Poppins"/>
                <a:cs typeface="Poppins"/>
              </a:rPr>
              <a:t> gera um relatório que mostra a porcentagem de cobertura de código durante a execução dos testes.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Executa os testes apenas em arquivos com alterações. Errado. O comando com --</a:t>
            </a:r>
            <a:r>
              <a:rPr lang="pt-BR" dirty="0" err="1">
                <a:latin typeface="Poppins"/>
                <a:cs typeface="Poppins"/>
              </a:rPr>
              <a:t>coverage</a:t>
            </a:r>
            <a:r>
              <a:rPr lang="pt-BR" dirty="0">
                <a:latin typeface="Poppins"/>
                <a:cs typeface="Poppins"/>
              </a:rPr>
              <a:t> executa todos os testes e gera um relatório de cobertura, não se restringindo apenas aos arquivos alterados.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Gera um novo arquivo de configuração para o </a:t>
            </a:r>
            <a:r>
              <a:rPr lang="pt-BR" dirty="0" err="1">
                <a:latin typeface="Poppins"/>
                <a:cs typeface="Poppins"/>
              </a:rPr>
              <a:t>Jest</a:t>
            </a:r>
            <a:r>
              <a:rPr lang="pt-BR" dirty="0">
                <a:latin typeface="Poppins"/>
                <a:cs typeface="Poppins"/>
              </a:rPr>
              <a:t>. Errado. O comando --</a:t>
            </a:r>
            <a:r>
              <a:rPr lang="pt-BR" dirty="0" err="1">
                <a:latin typeface="Poppins"/>
                <a:cs typeface="Poppins"/>
              </a:rPr>
              <a:t>coverage</a:t>
            </a:r>
            <a:r>
              <a:rPr lang="pt-BR" dirty="0">
                <a:latin typeface="Poppins"/>
                <a:cs typeface="Poppins"/>
              </a:rPr>
              <a:t> não cria novos arquivos de configuração, apenas executa os testes e gera o relatório de cobertura.</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Inicia o servidor de testes para rodar os testes em tempo real. Errado. O comando --</a:t>
            </a:r>
            <a:r>
              <a:rPr lang="pt-BR" dirty="0" err="1">
                <a:latin typeface="Poppins"/>
                <a:cs typeface="Poppins"/>
              </a:rPr>
              <a:t>coverage</a:t>
            </a:r>
            <a:r>
              <a:rPr lang="pt-BR" dirty="0">
                <a:latin typeface="Poppins"/>
                <a:cs typeface="Poppins"/>
              </a:rPr>
              <a:t> não inicia um servidor de testes em tempo real, mas sim executa os testes e avalia a cobertura do código.</a:t>
            </a:r>
          </a:p>
        </p:txBody>
      </p:sp>
      <p:sp>
        <p:nvSpPr>
          <p:cNvPr id="2" name="Retângulo 1">
            <a:extLst>
              <a:ext uri="{FF2B5EF4-FFF2-40B4-BE49-F238E27FC236}">
                <a16:creationId xmlns:a16="http://schemas.microsoft.com/office/drawing/2014/main" id="{B1691197-4812-A072-3EB3-176739DD106F}"/>
              </a:ext>
            </a:extLst>
          </p:cNvPr>
          <p:cNvSpPr/>
          <p:nvPr/>
        </p:nvSpPr>
        <p:spPr>
          <a:xfrm>
            <a:off x="0" y="5581379"/>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BB791659-ACB4-1007-7FF8-09A9741E0E1F}"/>
              </a:ext>
            </a:extLst>
          </p:cNvPr>
          <p:cNvSpPr txBox="1"/>
          <p:nvPr/>
        </p:nvSpPr>
        <p:spPr>
          <a:xfrm>
            <a:off x="1478280" y="5596619"/>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11 e 12</a:t>
            </a:r>
            <a:endParaRPr lang="pt-BR" sz="4800" b="1" dirty="0">
              <a:solidFill>
                <a:schemeClr val="bg1"/>
              </a:solidFill>
              <a:latin typeface="Poppins" pitchFamily="2" charset="77"/>
              <a:cs typeface="Poppins" pitchFamily="2" charset="77"/>
            </a:endParaRPr>
          </a:p>
        </p:txBody>
      </p:sp>
      <p:sp>
        <p:nvSpPr>
          <p:cNvPr id="4" name="CaixaDeTexto 3">
            <a:extLst>
              <a:ext uri="{FF2B5EF4-FFF2-40B4-BE49-F238E27FC236}">
                <a16:creationId xmlns:a16="http://schemas.microsoft.com/office/drawing/2014/main" id="{558AF389-7A5D-25BE-2C20-31F06C97CE28}"/>
              </a:ext>
            </a:extLst>
          </p:cNvPr>
          <p:cNvSpPr txBox="1"/>
          <p:nvPr/>
        </p:nvSpPr>
        <p:spPr>
          <a:xfrm>
            <a:off x="1478279" y="6417132"/>
            <a:ext cx="15941409" cy="3108543"/>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400"/>
              <a:defRPr/>
            </a:pPr>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Correto! O Cypress é ideal para realizar testes de ponta a ponta (</a:t>
            </a:r>
            <a:r>
              <a:rPr lang="pt-BR" dirty="0" err="1">
                <a:latin typeface="Poppins" panose="00000500000000000000" pitchFamily="2" charset="0"/>
                <a:cs typeface="Poppins" panose="00000500000000000000" pitchFamily="2" charset="0"/>
              </a:rPr>
              <a:t>end-to-end</a:t>
            </a:r>
            <a:r>
              <a:rPr lang="pt-BR" dirty="0">
                <a:latin typeface="Poppins" panose="00000500000000000000" pitchFamily="2" charset="0"/>
                <a:cs typeface="Poppins" panose="00000500000000000000" pitchFamily="2" charset="0"/>
              </a:rPr>
              <a:t>), validando como a interface reage a interações do usuário.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panose="00000500000000000000" pitchFamily="2" charset="0"/>
                <a:cs typeface="Poppins" panose="00000500000000000000" pitchFamily="2" charset="0"/>
              </a:rPr>
              <a:t>Feedback geral: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b="1"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Testar a lógica de funções e algoritmos do servidor. Errado. O Cypress é uma ferramenta de teste de interface e não é usado para testar a lógica de funções do servidor.</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Validar o comportamento de elementos da interface ao interagir com o usuário. Correto! O Cypress é ideal para realizar testes de ponta a ponta (</a:t>
            </a:r>
            <a:r>
              <a:rPr lang="pt-BR" dirty="0" err="1">
                <a:latin typeface="Poppins" panose="00000500000000000000" pitchFamily="2" charset="0"/>
                <a:cs typeface="Poppins" panose="00000500000000000000" pitchFamily="2" charset="0"/>
              </a:rPr>
              <a:t>end-to-end</a:t>
            </a:r>
            <a:r>
              <a:rPr lang="pt-BR" dirty="0">
                <a:latin typeface="Poppins" panose="00000500000000000000" pitchFamily="2" charset="0"/>
                <a:cs typeface="Poppins" panose="00000500000000000000" pitchFamily="2" charset="0"/>
              </a:rPr>
              <a:t>), validando como a interface reage a interações do usuário.</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Testar o banco de dados da aplicação Errado. O Cypress não é utilizado para testar o banco de dados diretamente; ele se foca nos testes de UI e interações com a aplicação.</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Executar apenas testes unitários em </a:t>
            </a:r>
            <a:r>
              <a:rPr lang="pt-BR" dirty="0" err="1">
                <a:latin typeface="Poppins" panose="00000500000000000000" pitchFamily="2" charset="0"/>
                <a:cs typeface="Poppins" panose="00000500000000000000" pitchFamily="2" charset="0"/>
              </a:rPr>
              <a:t>JavaScript</a:t>
            </a:r>
            <a:r>
              <a:rPr lang="pt-BR" dirty="0">
                <a:latin typeface="Poppins" panose="00000500000000000000" pitchFamily="2" charset="0"/>
                <a:cs typeface="Poppins" panose="00000500000000000000" pitchFamily="2" charset="0"/>
              </a:rPr>
              <a:t>. Errado. O Cypress é uma ferramenta para testes de interface, não para executar testes unitários, que são feitos com ferramentas como </a:t>
            </a:r>
            <a:r>
              <a:rPr lang="pt-BR" dirty="0" err="1">
                <a:latin typeface="Poppins" panose="00000500000000000000" pitchFamily="2" charset="0"/>
                <a:cs typeface="Poppins" panose="00000500000000000000" pitchFamily="2" charset="0"/>
              </a:rPr>
              <a:t>Jest</a:t>
            </a:r>
            <a:r>
              <a:rPr lang="pt-BR" dirty="0">
                <a:latin typeface="Poppins" panose="00000500000000000000" pitchFamily="2" charset="0"/>
                <a:cs typeface="Poppins" panose="00000500000000000000" pitchFamily="2" charset="0"/>
              </a:rPr>
              <a:t>.</a:t>
            </a:r>
          </a:p>
        </p:txBody>
      </p:sp>
      <p:sp>
        <p:nvSpPr>
          <p:cNvPr id="8" name="Oval 8">
            <a:extLst>
              <a:ext uri="{FF2B5EF4-FFF2-40B4-BE49-F238E27FC236}">
                <a16:creationId xmlns:a16="http://schemas.microsoft.com/office/drawing/2014/main" id="{D3AD414C-5B9F-EA1B-DD04-F428936DBDE4}"/>
              </a:ext>
            </a:extLst>
          </p:cNvPr>
          <p:cNvSpPr/>
          <p:nvPr/>
        </p:nvSpPr>
        <p:spPr>
          <a:xfrm>
            <a:off x="614957" y="642097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9" name="Gráfico 8">
            <a:extLst>
              <a:ext uri="{FF2B5EF4-FFF2-40B4-BE49-F238E27FC236}">
                <a16:creationId xmlns:a16="http://schemas.microsoft.com/office/drawing/2014/main" id="{70DF9A70-982F-084D-5F2C-AC5C625AF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6502160"/>
            <a:ext cx="312039" cy="400050"/>
          </a:xfrm>
          <a:prstGeom prst="rect">
            <a:avLst/>
          </a:prstGeom>
        </p:spPr>
      </p:pic>
      <p:sp>
        <p:nvSpPr>
          <p:cNvPr id="10" name="Oval 8">
            <a:extLst>
              <a:ext uri="{FF2B5EF4-FFF2-40B4-BE49-F238E27FC236}">
                <a16:creationId xmlns:a16="http://schemas.microsoft.com/office/drawing/2014/main" id="{9BBDFECE-FA1F-0EF6-1F5E-BC1FC69D1A45}"/>
              </a:ext>
            </a:extLst>
          </p:cNvPr>
          <p:cNvSpPr/>
          <p:nvPr/>
        </p:nvSpPr>
        <p:spPr>
          <a:xfrm>
            <a:off x="595907" y="207680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E447989C-EB04-B088-F687-41BF7838D0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819" y="2157985"/>
            <a:ext cx="312039" cy="400050"/>
          </a:xfrm>
          <a:prstGeom prst="rect">
            <a:avLst/>
          </a:prstGeom>
        </p:spPr>
      </p:pic>
    </p:spTree>
    <p:extLst>
      <p:ext uri="{BB962C8B-B14F-4D97-AF65-F5344CB8AC3E}">
        <p14:creationId xmlns:p14="http://schemas.microsoft.com/office/powerpoint/2010/main" val="2549989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E0B7A6-3B97-DFAC-6049-4E8B478E7994}"/>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F28FE2EC-128F-1BC1-4AFF-6E06600FDE3F}"/>
              </a:ext>
            </a:extLst>
          </p:cNvPr>
          <p:cNvCxnSpPr>
            <a:cxnSpLocks/>
          </p:cNvCxnSpPr>
          <p:nvPr/>
        </p:nvCxnSpPr>
        <p:spPr>
          <a:xfrm flipV="1">
            <a:off x="868312" y="168953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D24E2A7E-89CD-CFAD-7C1F-ADD5EB74F4D3}"/>
              </a:ext>
            </a:extLst>
          </p:cNvPr>
          <p:cNvSpPr/>
          <p:nvPr/>
        </p:nvSpPr>
        <p:spPr>
          <a:xfrm>
            <a:off x="601805" y="698034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F81D698B-DCB5-BE8F-762C-B7F99A15F6FD}"/>
              </a:ext>
            </a:extLst>
          </p:cNvPr>
          <p:cNvSpPr/>
          <p:nvPr/>
        </p:nvSpPr>
        <p:spPr>
          <a:xfrm>
            <a:off x="600496" y="493908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69B60FB4-59C3-788C-D06B-F859E5C50A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44769"/>
            <a:ext cx="352944" cy="360965"/>
          </a:xfrm>
          <a:prstGeom prst="rect">
            <a:avLst/>
          </a:prstGeom>
        </p:spPr>
      </p:pic>
      <p:pic>
        <p:nvPicPr>
          <p:cNvPr id="18" name="Gráfico 17">
            <a:extLst>
              <a:ext uri="{FF2B5EF4-FFF2-40B4-BE49-F238E27FC236}">
                <a16:creationId xmlns:a16="http://schemas.microsoft.com/office/drawing/2014/main" id="{F71570D6-1747-B39F-4B17-F85283CC80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7061529"/>
            <a:ext cx="312039" cy="400050"/>
          </a:xfrm>
          <a:prstGeom prst="rect">
            <a:avLst/>
          </a:prstGeom>
        </p:spPr>
      </p:pic>
      <p:sp>
        <p:nvSpPr>
          <p:cNvPr id="20" name="CaixaDeTexto 3">
            <a:extLst>
              <a:ext uri="{FF2B5EF4-FFF2-40B4-BE49-F238E27FC236}">
                <a16:creationId xmlns:a16="http://schemas.microsoft.com/office/drawing/2014/main" id="{68D1402B-3870-E26A-F880-7CF7BD67089B}"/>
              </a:ext>
            </a:extLst>
          </p:cNvPr>
          <p:cNvSpPr txBox="1"/>
          <p:nvPr/>
        </p:nvSpPr>
        <p:spPr>
          <a:xfrm>
            <a:off x="1478280" y="2146575"/>
            <a:ext cx="15377160" cy="551958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effectLst/>
                <a:latin typeface="Poppins" panose="00000500000000000000" pitchFamily="2" charset="0"/>
                <a:ea typeface="Aptos" panose="020B0004020202020204" pitchFamily="34" charset="0"/>
                <a:cs typeface="Poppins" panose="00000500000000000000" pitchFamily="2" charset="0"/>
              </a:rPr>
              <a:t>professor,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esclarecimento sobre os conceitos abordados na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com as definições corretas dos conceitos.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 conceito e ofereça esclarecimentos rápidos caso haja discrepâncias ou mal-entendidos.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o</a:t>
            </a:r>
            <a:r>
              <a:rPr lang="pt-BR" kern="100" dirty="0">
                <a:effectLst/>
                <a:latin typeface="Poppins" panose="00000500000000000000" pitchFamily="2" charset="0"/>
                <a:ea typeface="Aptos" panose="020B0004020202020204" pitchFamily="34" charset="0"/>
                <a:cs typeface="Poppins" panose="00000500000000000000" pitchFamily="2" charset="0"/>
              </a:rPr>
              <a:t>s estudantes devem sair da aula com um entendimento claro e preciso dos conceitos principais. A atividade serve como uma verificação rápida do entendimento dos estudantes e uma oportunidade para corrigir quaisquer mal-entendidos.  </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CB8A3B9A-CBE5-AD5B-0624-134C17B08F3C}"/>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69723AF1-4BA7-7D56-8078-C2F575DAF9BF}"/>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0C3E4B2F-D67C-8CB5-829D-E64F5C89E2C6}"/>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3" name="Google Shape;2216;p100">
            <a:extLst>
              <a:ext uri="{FF2B5EF4-FFF2-40B4-BE49-F238E27FC236}">
                <a16:creationId xmlns:a16="http://schemas.microsoft.com/office/drawing/2014/main" id="{34E8D5F3-D54E-E1FC-65E1-B9065750E6CF}"/>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033CA3D9-3AC7-5EEB-9CF6-FCB5C51B043B}"/>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6" name="Imagem 15">
            <a:extLst>
              <a:ext uri="{FF2B5EF4-FFF2-40B4-BE49-F238E27FC236}">
                <a16:creationId xmlns:a16="http://schemas.microsoft.com/office/drawing/2014/main" id="{2BB4B27C-1206-A0B9-DE40-2B7F54CA5383}"/>
              </a:ext>
            </a:extLst>
          </p:cNvPr>
          <p:cNvPicPr>
            <a:picLocks noChangeAspect="1"/>
          </p:cNvPicPr>
          <p:nvPr/>
        </p:nvPicPr>
        <p:blipFill>
          <a:blip r:embed="rId5"/>
          <a:srcRect/>
          <a:stretch/>
        </p:blipFill>
        <p:spPr>
          <a:xfrm>
            <a:off x="769865" y="3028438"/>
            <a:ext cx="235287" cy="282344"/>
          </a:xfrm>
          <a:prstGeom prst="rect">
            <a:avLst/>
          </a:prstGeom>
        </p:spPr>
      </p:pic>
      <p:sp>
        <p:nvSpPr>
          <p:cNvPr id="21" name="Retângulo 20">
            <a:extLst>
              <a:ext uri="{FF2B5EF4-FFF2-40B4-BE49-F238E27FC236}">
                <a16:creationId xmlns:a16="http://schemas.microsoft.com/office/drawing/2014/main" id="{1850AB25-F544-7F13-904A-6DAFD9DA65A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DA015D00-5874-5CF2-0340-21111A15A2F5}"/>
              </a:ext>
            </a:extLst>
          </p:cNvPr>
          <p:cNvSpPr txBox="1"/>
          <p:nvPr/>
        </p:nvSpPr>
        <p:spPr>
          <a:xfrm>
            <a:off x="1478280" y="1193628"/>
            <a:ext cx="8884920" cy="739587"/>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13</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3610652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59672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B81252851F28942875D89D2C39F1241" ma:contentTypeVersion="18" ma:contentTypeDescription="Crie um novo documento." ma:contentTypeScope="" ma:versionID="4a43562f0951836659c836b04acf3ff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603b1973da2e891d21f14d8bb65aba69"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2.xml><?xml version="1.0" encoding="utf-8"?>
<ds:datastoreItem xmlns:ds="http://schemas.openxmlformats.org/officeDocument/2006/customXml" ds:itemID="{EC661F7A-1649-4A39-91A5-A3893F5678E5}">
  <ds:schemaRefs>
    <ds:schemaRef ds:uri="http://purl.org/dc/elements/1.1/"/>
    <ds:schemaRef ds:uri="a45d3e5f-3e31-4187-b998-c44ee850df36"/>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purl.org/dc/dcmitype/"/>
    <ds:schemaRef ds:uri="aacb3b2f-5927-4b98-82b1-fea2b4072a87"/>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EF1BD0DC-92D0-4BEF-9BE7-5D204EB1C653}">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410</TotalTime>
  <Words>1938</Words>
  <Application>Microsoft Office PowerPoint</Application>
  <PresentationFormat>Personalizar</PresentationFormat>
  <Paragraphs>208</Paragraphs>
  <Slides>21</Slides>
  <Notes>20</Notes>
  <HiddenSlides>9</HiddenSlides>
  <MMClips>0</MMClips>
  <ScaleCrop>false</ScaleCrop>
  <HeadingPairs>
    <vt:vector size="6" baseType="variant">
      <vt:variant>
        <vt:lpstr>Fontes usadas</vt:lpstr>
      </vt:variant>
      <vt:variant>
        <vt:i4>6</vt:i4>
      </vt:variant>
      <vt:variant>
        <vt:lpstr>Tema</vt:lpstr>
      </vt:variant>
      <vt:variant>
        <vt:i4>3</vt:i4>
      </vt:variant>
      <vt:variant>
        <vt:lpstr>Títulos de slides</vt:lpstr>
      </vt:variant>
      <vt:variant>
        <vt:i4>21</vt:i4>
      </vt:variant>
    </vt:vector>
  </HeadingPairs>
  <TitlesOfParts>
    <vt:vector size="30" baseType="lpstr">
      <vt:lpstr>Poppins</vt:lpstr>
      <vt:lpstr>Poppins Medium</vt:lpstr>
      <vt:lpstr>Calibri</vt:lpstr>
      <vt:lpstr>Poppins Bold</vt:lpstr>
      <vt:lpstr>Arial</vt:lpstr>
      <vt:lpstr>Poppins Light</vt:lpstr>
      <vt:lpstr>Office Theme</vt:lpstr>
      <vt:lpstr>Trilha_SIS</vt:lpstr>
      <vt:lpstr>Trilhas_Iniciais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Rocha</cp:lastModifiedBy>
  <cp:revision>40</cp:revision>
  <dcterms:modified xsi:type="dcterms:W3CDTF">2026-09-17T14:52:43Z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