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23"/>
  </p:notesMasterIdLst>
  <p:handoutMasterIdLst>
    <p:handoutMasterId r:id="rId24"/>
  </p:handoutMasterIdLst>
  <p:sldIdLst>
    <p:sldId id="994" r:id="rId7"/>
    <p:sldId id="950" r:id="rId8"/>
    <p:sldId id="983" r:id="rId9"/>
    <p:sldId id="984" r:id="rId10"/>
    <p:sldId id="953" r:id="rId11"/>
    <p:sldId id="993" r:id="rId12"/>
    <p:sldId id="527" r:id="rId13"/>
    <p:sldId id="978" r:id="rId14"/>
    <p:sldId id="977" r:id="rId15"/>
    <p:sldId id="1270" r:id="rId16"/>
    <p:sldId id="1269" r:id="rId17"/>
    <p:sldId id="1271" r:id="rId18"/>
    <p:sldId id="1272" r:id="rId19"/>
    <p:sldId id="1273" r:id="rId20"/>
    <p:sldId id="1274" r:id="rId21"/>
    <p:sldId id="806" r:id="rId22"/>
  </p:sldIdLst>
  <p:sldSz cx="18288000" cy="10287000"/>
  <p:notesSz cx="6858000" cy="9144000"/>
  <p:embeddedFontLst>
    <p:embeddedFont>
      <p:font typeface="Poppins" panose="00000500000000000000" pitchFamily="2" charset="0"/>
      <p:regular r:id="rId25"/>
      <p:bold r:id="rId26"/>
      <p:italic r:id="rId27"/>
      <p:boldItalic r:id="rId28"/>
    </p:embeddedFont>
    <p:embeddedFont>
      <p:font typeface="Poppins Bold" panose="00000800000000000000" pitchFamily="2" charset="0"/>
      <p:bold r:id="rId29"/>
      <p:italic r:id="rId30"/>
      <p:boldItalic r:id="rId31"/>
    </p:embeddedFont>
    <p:embeddedFont>
      <p:font typeface="Poppins Light" panose="000004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E2B8FC21-1315-EB9D-926F-BBDAE9BF75A5}" name="Utilizador Convidado" initials="UC" userId="S::urn:spo:anon#e40fd8ed93df147444d00c51071f924f182ff2b8ef1a9031d089521bc73ad0f2::" providerId="AD"/>
  <p188:author id="{5D93F123-A5E2-A62B-D9E3-D9303D1BB86B}" name="Gustavo Cruz dos Reis" initials="GC" userId="S::greis@vanzolini-ead.org.br::837664e1-438f-44d7-9e01-7f6012fe004f" providerId="AD"/>
  <p188:author id="{F5B7B953-1DF4-8E25-2FD7-461A6661F625}" name="user" initials="u" userId="user" providerId="None"/>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ISE ONCKEN" initials="DO" lastIdx="4" clrIdx="0">
    <p:extLst>
      <p:ext uri="{19B8F6BF-5375-455C-9EA6-DF929625EA0E}">
        <p15:presenceInfo xmlns:p15="http://schemas.microsoft.com/office/powerpoint/2012/main" userId="6cace8f68071a60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FFFFFF"/>
    <a:srgbClr val="28566E"/>
    <a:srgbClr val="263B4B"/>
    <a:srgbClr val="D9D9D9"/>
    <a:srgbClr val="D8D2D5"/>
    <a:srgbClr val="EDB1C8"/>
    <a:srgbClr val="000000"/>
    <a:srgbClr val="CA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87522" autoAdjust="0"/>
  </p:normalViewPr>
  <p:slideViewPr>
    <p:cSldViewPr snapToGrid="0">
      <p:cViewPr varScale="1">
        <p:scale>
          <a:sx n="63" d="100"/>
          <a:sy n="63" d="100"/>
        </p:scale>
        <p:origin x="990"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5.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4.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27CD-7D0D-F986-E3C2-223C4D862DF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546F70D-E3D1-10A1-62F9-9037C531D26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E89A79E-C07F-98FB-4A09-D7AB257C4490}"/>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458F3174-AE75-3D32-2B32-ED313DEB672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8177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4398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C167-FB42-50AE-8025-770D179EB5A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034EA78-D321-9FC1-1A7D-87A102271F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77C7390-C50F-3BC6-CBC2-1EBA8F6DA34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C7CD615-B84D-9745-21B9-2D7CD1B29AA9}"/>
              </a:ext>
            </a:extLst>
          </p:cNvPr>
          <p:cNvSpPr>
            <a:spLocks noGrp="1"/>
          </p:cNvSpPr>
          <p:nvPr>
            <p:ph type="sldNum" sz="quarter" idx="10"/>
          </p:nvPr>
        </p:nvSpPr>
        <p:spPr/>
        <p:txBody>
          <a:bodyPr/>
          <a:lstStyle/>
          <a:p>
            <a:fld id="{8BE604BA-17DA-4B63-8B72-ADA1FAE27E0B}" type="slidenum">
              <a:rPr lang="pt-BR" smtClean="0"/>
              <a:t>4</a:t>
            </a:fld>
            <a:endParaRPr lang="pt-BR" dirty="0"/>
          </a:p>
        </p:txBody>
      </p:sp>
    </p:spTree>
    <p:extLst>
      <p:ext uri="{BB962C8B-B14F-4D97-AF65-F5344CB8AC3E}">
        <p14:creationId xmlns:p14="http://schemas.microsoft.com/office/powerpoint/2010/main" val="1172115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0907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F3170-0197-3D35-6766-8644F84BBF3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156FC1F-17FD-0A08-2E12-2DBD71921B0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7D886D2-3524-A8A6-1513-2EF25635B20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CE27C2C-9AED-ACA0-593B-9E16F9B9772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39078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5716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4373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87623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8F1A7-AB63-3652-44A0-933FD76C7F5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8CC3432-75A8-15A0-E725-1025858DC42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B60625D-A5C8-E8CF-DF3C-7533A6AAF072}"/>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4EC9DA31-EB6D-9660-C226-9B366858B29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3455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C289F-EFF6-CBCB-26AB-D750A46F96F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5D87496-C157-F33E-9499-23494F0A017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AF92002-AECD-93DE-62B7-A08F7C1C9C5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1160EC42-F827-1396-79CD-599676C9355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86040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A51D9-99A2-76C4-BC5D-159968E3367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9A285FE-49AA-C89B-0E00-99F618DB46E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6C29C98-84B4-5026-46D2-ED3DD68441C2}"/>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59F5ECF3-209D-0402-01A7-61B8008280F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08195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57E1-5DA3-8B52-8BD0-F0B13CE6D3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AD1A64B-0BD4-B647-C1AA-7512957723C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70EA077-D5EA-B882-682B-35FBD92EB23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691BF209-8362-F32D-A0FD-A9716C00D73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5796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FF56-BACA-37EC-DBC5-9981370295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58B4304-2DFA-7537-8D0B-127DA61041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32C51FC-0168-60FE-A102-3CECA89EF519}"/>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5402F94B-E798-4AC1-0F46-E8139B2E5C7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5184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600C0-CEFE-BDC8-F954-E4292855A52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5986492-67B9-BF1A-503C-9B1C0E939AD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FEC8BF7-B145-7D93-BE16-A2DF832CFE8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DCA4E676-8E13-3232-244A-3F78C168EB6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6390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52687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D1A2B0C5-6912-8011-C2C1-A016890ECA6E}"/>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dirty="0">
                <a:solidFill>
                  <a:schemeClr val="dk1"/>
                </a:solidFill>
                <a:latin typeface="Poppins"/>
                <a:ea typeface="Poppins"/>
                <a:cs typeface="Poppins"/>
                <a:sym typeface="Poppins"/>
              </a:rPr>
              <a:t>Baixe o roteiro dessa atividade</a:t>
            </a:r>
            <a:endParaRPr lang="pt-BR" sz="1800" b="0" i="0" u="none" strike="noStrike" cap="none" noProof="0"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E327B35B-C08F-D08C-C7B3-1579E19DF977}"/>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1F0473B1-6B0F-8E05-2F49-FB3D953D6329}"/>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dirty="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dirty="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dirty="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9554D720-A184-5291-207D-1167B67F389B}"/>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6EF26385-1949-B1CA-745A-738683B74F96}"/>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F0EC9956-DA3F-7591-C1B7-E1BD0EC49363}"/>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27BB9061-F5C4-260C-7E17-36A9794EBAB8}"/>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680BC1D2-9D6B-3C98-8C2A-388338626178}"/>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dirty="0"/>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dirty="0"/>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dirty="0"/>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92B0D894-AB1D-A9FB-6E07-DD6E0CBBE2B5}"/>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conceito</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Objetivos da aula</a:t>
            </a:r>
            <a:endParaRPr sz="27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técnicas</a:t>
            </a:r>
            <a:endParaRPr lang="pt-BR" sz="14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3610341"/>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Recursos didáticos</a:t>
            </a:r>
            <a:endParaRPr sz="14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Duração da aula</a:t>
            </a:r>
            <a:endParaRPr sz="14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socioemocionais</a:t>
            </a:r>
            <a:endParaRPr lang="pt-BR" sz="14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369295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3888956"/>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A52777DB-81E4-E962-1F14-8815974B4250}"/>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B2EDA7E2-1EC0-D9E3-7926-6371983D64A7}"/>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6" name="Imagem 5">
            <a:extLst>
              <a:ext uri="{FF2B5EF4-FFF2-40B4-BE49-F238E27FC236}">
                <a16:creationId xmlns:a16="http://schemas.microsoft.com/office/drawing/2014/main" id="{3F15668B-7DC9-9779-919E-293EC07B7142}"/>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dirty="0"/>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3C0D0863-4CAA-255F-200F-7BF27B407691}"/>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560FFDE1-415B-3C70-DC6E-8E86B7F6F126}"/>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8" name="Imagem 7">
            <a:extLst>
              <a:ext uri="{FF2B5EF4-FFF2-40B4-BE49-F238E27FC236}">
                <a16:creationId xmlns:a16="http://schemas.microsoft.com/office/drawing/2014/main" id="{B98E6566-40E5-BCBB-C1DE-E37599C09723}"/>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Ponto</a:t>
            </a:r>
            <a:r>
              <a:rPr lang="pt-BR" sz="3500" b="0" i="0" u="none" strike="noStrike" cap="none" dirty="0">
                <a:solidFill>
                  <a:schemeClr val="lt1"/>
                </a:solidFill>
                <a:latin typeface="Poppins Medium"/>
                <a:ea typeface="Poppins Medium"/>
                <a:cs typeface="Poppins Medium"/>
                <a:sym typeface="Poppins Medium"/>
              </a:rPr>
              <a:t> </a:t>
            </a:r>
            <a:r>
              <a:rPr lang="pt-BR" sz="3500" b="0" i="0" u="none" strike="noStrike" cap="none" dirty="0">
                <a:solidFill>
                  <a:schemeClr val="lt1"/>
                </a:solidFill>
                <a:latin typeface="Poppins Light" pitchFamily="2" charset="77"/>
                <a:ea typeface="Poppins Medium"/>
                <a:cs typeface="Poppins Light" pitchFamily="2" charset="77"/>
                <a:sym typeface="Poppins Medium"/>
              </a:rPr>
              <a:t>de</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partida</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3E26D75B-D689-59B1-1592-8A3470F706C2}"/>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7AF477EE-6F3F-D5DC-BA76-60734BE67636}"/>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pitchFamily="2" charset="77"/>
                <a:ea typeface="Poppins"/>
                <a:cs typeface="Poppins" pitchFamily="2" charset="77"/>
                <a:sym typeface="Poppins"/>
              </a:rPr>
              <a:t>conceito</a:t>
            </a:r>
            <a:endParaRPr sz="3500" b="1" i="0" u="none" strike="noStrike" cap="none" dirty="0">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0C67AAF7-438F-F2F9-B37C-E80D7CE9A13D}"/>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a:cs typeface="Poppins"/>
                <a:sym typeface="Poppins"/>
              </a:rPr>
              <a:t>quiz</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061A21A5-8203-6E08-E5E0-E2363CD22845}"/>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Light"/>
                <a:cs typeface="Poppins"/>
                <a:sym typeface="Poppins"/>
              </a:rPr>
              <a:t>responda</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03A11BBB-C934-96E0-634E-7B77DBE9D76A}"/>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3BBE2865-B572-1F12-2244-B692D7CAC4A6}"/>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endParaRPr lang="en-US" dirty="0"/>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22" name="Imagem 21">
            <a:extLst>
              <a:ext uri="{FF2B5EF4-FFF2-40B4-BE49-F238E27FC236}">
                <a16:creationId xmlns:a16="http://schemas.microsoft.com/office/drawing/2014/main" id="{005DF1B8-E091-5E2C-04BA-6A153BA6F939}"/>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5D6FE0DF-9A0A-5878-E08F-9C4269475D91}"/>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1</a:t>
            </a:r>
            <a:endParaRPr sz="1400"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2</a:t>
            </a:r>
            <a:endParaRPr sz="1400"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3</a:t>
            </a:r>
            <a:endParaRPr sz="1400"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71577B36-1979-E4FD-499E-39E5519FF612}"/>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dirty="0"/>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dirty="0">
                <a:solidFill>
                  <a:srgbClr val="FF161F"/>
                </a:solidFill>
                <a:latin typeface="Poppins"/>
                <a:ea typeface="Poppins"/>
                <a:cs typeface="Poppins"/>
                <a:sym typeface="Poppins"/>
              </a:rPr>
              <a:t>Referências</a:t>
            </a:r>
            <a:r>
              <a:rPr lang="en-US" sz="4500" b="1" i="0" u="none" strike="noStrike" cap="none" dirty="0">
                <a:solidFill>
                  <a:srgbClr val="FF161F"/>
                </a:solidFill>
                <a:latin typeface="Poppins"/>
                <a:ea typeface="Poppins"/>
                <a:cs typeface="Poppins"/>
                <a:sym typeface="Poppins"/>
              </a:rPr>
              <a:t> da aula</a:t>
            </a:r>
            <a:endParaRPr sz="14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06DB0453-299D-C1C5-EEA9-CBFB789F6393}"/>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9C4024E3-C83B-D6D6-0C35-5E6E6144F537}"/>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dirty="0">
                <a:latin typeface="Arial" panose="020B0604020202020204" pitchFamily="34" charset="0"/>
                <a:ea typeface="Verdana"/>
                <a:cs typeface="Arial" panose="020B0604020202020204" pitchFamily="34" charset="0"/>
                <a:sym typeface="Verdana"/>
              </a:rPr>
              <a:t>Diversas aplicações</a:t>
            </a:r>
            <a:endParaRPr lang="pt-BR" sz="1400" b="1" i="0" u="none" strike="noStrike" cap="none" dirty="0">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4BD2BB20-5190-75EE-7978-3461C98512FA}"/>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41508306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dirty="0">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2.xml"/><Relationship Id="rId1" Type="http://schemas.openxmlformats.org/officeDocument/2006/relationships/slideLayout" Target="../slideLayouts/slideLayout33.xml"/><Relationship Id="rId4" Type="http://schemas.openxmlformats.org/officeDocument/2006/relationships/image" Target="../media/image2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86"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 id="2147483746"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hyperlink" Target="https://www.devmedia.com.br/entendendo-o-gridsystem-em-css3/27721" TargetMode="External"/><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codecamp.org/portuguese/news/exemplos-de-transicao-em-css-como-usar-a-animacao-ao-passar-o-mouse-alterar-a-opacidade-e-mais" TargetMode="External"/><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hyperlink" Target="https://www.alura.com.br/artigos/css-animacoes-com-transitions-animations?srsltid=AfmBOorcPi_LoMb_nV_7aGwWJpozK4MZDCL0XyXjZDdJpRB9oPGjd8Dr" TargetMode="External"/><Relationship Id="rId5" Type="http://schemas.openxmlformats.org/officeDocument/2006/relationships/hyperlink" Target="https://www.devmedia.com.br/entendendo-o-gridsystem-em-css3/27721" TargetMode="External"/><Relationship Id="rId4" Type="http://schemas.openxmlformats.org/officeDocument/2006/relationships/hyperlink" Target="https://cursos.alura.com.br/forum/topico-como-fazer-as-estrelas-usando-css-clip-path-property-272437"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9.xml"/><Relationship Id="rId6" Type="http://schemas.openxmlformats.org/officeDocument/2006/relationships/image" Target="../media/image35.emf"/><Relationship Id="rId5" Type="http://schemas.openxmlformats.org/officeDocument/2006/relationships/image" Target="../media/image34.svg"/><Relationship Id="rId4" Type="http://schemas.openxmlformats.org/officeDocument/2006/relationships/image" Target="../media/image33.svg"/></Relationships>
</file>

<file path=ppt/slides/_rels/slide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35.emf"/></Relationships>
</file>

<file path=ppt/slides/_rels/slide1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2.xml"/><Relationship Id="rId1" Type="http://schemas.openxmlformats.org/officeDocument/2006/relationships/slideLayout" Target="../slideLayouts/slideLayout29.xml"/><Relationship Id="rId4" Type="http://schemas.openxmlformats.org/officeDocument/2006/relationships/image" Target="../media/image35.emf"/></Relationships>
</file>

<file path=ppt/slides/_rels/slide1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4.xml"/><Relationship Id="rId1" Type="http://schemas.openxmlformats.org/officeDocument/2006/relationships/slideLayout" Target="../slideLayouts/slideLayout29.xml"/><Relationship Id="rId4" Type="http://schemas.openxmlformats.org/officeDocument/2006/relationships/image" Target="../media/image34.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8DC0-3197-A060-A4B6-26CF9408BC12}"/>
            </a:ext>
          </a:extLst>
        </p:cNvPr>
        <p:cNvGrpSpPr/>
        <p:nvPr/>
      </p:nvGrpSpPr>
      <p:grpSpPr>
        <a:xfrm>
          <a:off x="0" y="0"/>
          <a:ext cx="0" cy="0"/>
          <a:chOff x="0" y="0"/>
          <a:chExt cx="0" cy="0"/>
        </a:xfrm>
      </p:grpSpPr>
    </p:spTree>
    <p:extLst>
      <p:ext uri="{BB962C8B-B14F-4D97-AF65-F5344CB8AC3E}">
        <p14:creationId xmlns:p14="http://schemas.microsoft.com/office/powerpoint/2010/main" val="2541999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304781" y="3828652"/>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Ferramentas avançadas para estilização</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304778" y="5957101"/>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dirty="0">
                <a:latin typeface="Poppins"/>
                <a:cs typeface="Poppins"/>
              </a:rPr>
              <a:t>Código da aula: [SIS]ANO2C3B4S24A3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304778" y="1404906"/>
            <a:ext cx="10222120" cy="18995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Estilização de páginas, ferramentas de desenvolvimento e performance</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304779" y="5056563"/>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3: Animações e transições com CSS e JavaScript</a:t>
            </a:r>
          </a:p>
        </p:txBody>
      </p:sp>
      <p:pic>
        <p:nvPicPr>
          <p:cNvPr id="3" name="Imagem 2">
            <a:extLst>
              <a:ext uri="{FF2B5EF4-FFF2-40B4-BE49-F238E27FC236}">
                <a16:creationId xmlns:a16="http://schemas.microsoft.com/office/drawing/2014/main" id="{B41B9AD6-5E6A-929E-0F00-98745AA1E869}"/>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C7A56473-49F0-7289-2DC5-8ACC7EAFD516}"/>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565CE123-6277-FC67-7959-135952D814DA}"/>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67F74BB9-ADA3-8604-1681-0D5CC9ABFD92}"/>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195970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C6E3-E633-046B-1ECB-D99134C50C51}"/>
            </a:ext>
          </a:extLst>
        </p:cNvPr>
        <p:cNvGrpSpPr/>
        <p:nvPr/>
      </p:nvGrpSpPr>
      <p:grpSpPr>
        <a:xfrm>
          <a:off x="0" y="0"/>
          <a:ext cx="0" cy="0"/>
          <a:chOff x="0" y="0"/>
          <a:chExt cx="0" cy="0"/>
        </a:xfrm>
      </p:grpSpPr>
      <p:sp>
        <p:nvSpPr>
          <p:cNvPr id="30" name="Espaço Reservado para Texto 29">
            <a:extLst>
              <a:ext uri="{FF2B5EF4-FFF2-40B4-BE49-F238E27FC236}">
                <a16:creationId xmlns:a16="http://schemas.microsoft.com/office/drawing/2014/main" id="{33C80F82-01ED-7CF7-3741-EF447950E468}"/>
              </a:ext>
            </a:extLst>
          </p:cNvPr>
          <p:cNvSpPr>
            <a:spLocks noGrp="1"/>
          </p:cNvSpPr>
          <p:nvPr>
            <p:ph type="body" sz="quarter" idx="12"/>
          </p:nvPr>
        </p:nvSpPr>
        <p:spPr/>
        <p:txBody>
          <a:bodyPr/>
          <a:lstStyle/>
          <a:p>
            <a:r>
              <a:rPr lang="pt-BR" dirty="0"/>
              <a:t>Técnicas avançadas de CSS e Mobile-First</a:t>
            </a:r>
          </a:p>
        </p:txBody>
      </p:sp>
      <p:sp>
        <p:nvSpPr>
          <p:cNvPr id="31" name="Espaço Reservado para Texto 30">
            <a:extLst>
              <a:ext uri="{FF2B5EF4-FFF2-40B4-BE49-F238E27FC236}">
                <a16:creationId xmlns:a16="http://schemas.microsoft.com/office/drawing/2014/main" id="{9B0CCD9F-2CE2-1E1D-7F3B-968E1EAFA2ED}"/>
              </a:ext>
            </a:extLst>
          </p:cNvPr>
          <p:cNvSpPr>
            <a:spLocks noGrp="1"/>
          </p:cNvSpPr>
          <p:nvPr>
            <p:ph type="body" sz="quarter" idx="13"/>
          </p:nvPr>
        </p:nvSpPr>
        <p:spPr/>
        <p:txBody>
          <a:bodyPr/>
          <a:lstStyle/>
          <a:p>
            <a:r>
              <a:rPr lang="pt-BR" dirty="0"/>
              <a:t>Você está aqui!</a:t>
            </a:r>
          </a:p>
        </p:txBody>
      </p:sp>
      <p:sp>
        <p:nvSpPr>
          <p:cNvPr id="32" name="Espaço Reservado para Texto 31">
            <a:extLst>
              <a:ext uri="{FF2B5EF4-FFF2-40B4-BE49-F238E27FC236}">
                <a16:creationId xmlns:a16="http://schemas.microsoft.com/office/drawing/2014/main" id="{16486306-E964-0581-AFD0-D00ACF2EBCE0}"/>
              </a:ext>
            </a:extLst>
          </p:cNvPr>
          <p:cNvSpPr>
            <a:spLocks noGrp="1"/>
          </p:cNvSpPr>
          <p:nvPr>
            <p:ph type="body" sz="quarter" idx="14"/>
          </p:nvPr>
        </p:nvSpPr>
        <p:spPr/>
        <p:txBody>
          <a:bodyPr/>
          <a:lstStyle/>
          <a:p>
            <a:r>
              <a:rPr lang="pt-BR" dirty="0"/>
              <a:t>19</a:t>
            </a:r>
          </a:p>
        </p:txBody>
      </p:sp>
      <p:sp>
        <p:nvSpPr>
          <p:cNvPr id="33" name="Espaço Reservado para Texto 32">
            <a:extLst>
              <a:ext uri="{FF2B5EF4-FFF2-40B4-BE49-F238E27FC236}">
                <a16:creationId xmlns:a16="http://schemas.microsoft.com/office/drawing/2014/main" id="{99609BEA-AF40-A9FE-C09A-C816DDB69E8B}"/>
              </a:ext>
            </a:extLst>
          </p:cNvPr>
          <p:cNvSpPr>
            <a:spLocks noGrp="1"/>
          </p:cNvSpPr>
          <p:nvPr>
            <p:ph type="body" sz="quarter" idx="15"/>
          </p:nvPr>
        </p:nvSpPr>
        <p:spPr/>
        <p:txBody>
          <a:bodyPr/>
          <a:lstStyle/>
          <a:p>
            <a:r>
              <a:rPr lang="pt-BR" dirty="0"/>
              <a:t>Performance e otimização de aplicações web</a:t>
            </a:r>
          </a:p>
        </p:txBody>
      </p:sp>
      <p:sp>
        <p:nvSpPr>
          <p:cNvPr id="36" name="Espaço Reservado para Texto 35">
            <a:extLst>
              <a:ext uri="{FF2B5EF4-FFF2-40B4-BE49-F238E27FC236}">
                <a16:creationId xmlns:a16="http://schemas.microsoft.com/office/drawing/2014/main" id="{E3E24EB9-77D1-B570-D47F-E330470E2C0B}"/>
              </a:ext>
            </a:extLst>
          </p:cNvPr>
          <p:cNvSpPr>
            <a:spLocks noGrp="1"/>
          </p:cNvSpPr>
          <p:nvPr>
            <p:ph type="body" sz="quarter" idx="18"/>
          </p:nvPr>
        </p:nvSpPr>
        <p:spPr/>
        <p:txBody>
          <a:bodyPr/>
          <a:lstStyle/>
          <a:p>
            <a:r>
              <a:rPr lang="pt-BR" dirty="0"/>
              <a:t>24</a:t>
            </a:r>
          </a:p>
        </p:txBody>
      </p:sp>
      <p:sp>
        <p:nvSpPr>
          <p:cNvPr id="37" name="Espaço Reservado para Texto 36">
            <a:extLst>
              <a:ext uri="{FF2B5EF4-FFF2-40B4-BE49-F238E27FC236}">
                <a16:creationId xmlns:a16="http://schemas.microsoft.com/office/drawing/2014/main" id="{97201BB5-72D6-51A4-F612-8CCBC4C8A456}"/>
              </a:ext>
            </a:extLst>
          </p:cNvPr>
          <p:cNvSpPr>
            <a:spLocks noGrp="1"/>
          </p:cNvSpPr>
          <p:nvPr>
            <p:ph type="body" sz="quarter" idx="19"/>
          </p:nvPr>
        </p:nvSpPr>
        <p:spPr/>
        <p:txBody>
          <a:bodyPr/>
          <a:lstStyle/>
          <a:p>
            <a:r>
              <a:rPr lang="pt-BR" dirty="0"/>
              <a:t>25</a:t>
            </a:r>
          </a:p>
        </p:txBody>
      </p:sp>
      <p:sp>
        <p:nvSpPr>
          <p:cNvPr id="28" name="Subtítulo 27">
            <a:extLst>
              <a:ext uri="{FF2B5EF4-FFF2-40B4-BE49-F238E27FC236}">
                <a16:creationId xmlns:a16="http://schemas.microsoft.com/office/drawing/2014/main" id="{F6E28738-D1E4-9D78-9195-BAC3F7591B50}"/>
              </a:ext>
            </a:extLst>
          </p:cNvPr>
          <p:cNvSpPr>
            <a:spLocks noGrp="1"/>
          </p:cNvSpPr>
          <p:nvPr>
            <p:ph type="subTitle" idx="1"/>
          </p:nvPr>
        </p:nvSpPr>
        <p:spPr/>
        <p:txBody>
          <a:bodyPr/>
          <a:lstStyle/>
          <a:p>
            <a:r>
              <a:rPr lang="pt-BR" dirty="0"/>
              <a:t>20</a:t>
            </a:r>
          </a:p>
        </p:txBody>
      </p:sp>
      <p:sp>
        <p:nvSpPr>
          <p:cNvPr id="29" name="Espaço Reservado para Texto 28">
            <a:extLst>
              <a:ext uri="{FF2B5EF4-FFF2-40B4-BE49-F238E27FC236}">
                <a16:creationId xmlns:a16="http://schemas.microsoft.com/office/drawing/2014/main" id="{2F19158A-DCB9-0980-564E-89760AC7E833}"/>
              </a:ext>
            </a:extLst>
          </p:cNvPr>
          <p:cNvSpPr>
            <a:spLocks noGrp="1"/>
          </p:cNvSpPr>
          <p:nvPr>
            <p:ph type="body" sz="quarter" idx="10"/>
          </p:nvPr>
        </p:nvSpPr>
        <p:spPr/>
        <p:txBody>
          <a:bodyPr/>
          <a:lstStyle/>
          <a:p>
            <a:r>
              <a:rPr lang="pt-BR" dirty="0"/>
              <a:t>Acessibilidade e animações interativas</a:t>
            </a:r>
          </a:p>
        </p:txBody>
      </p:sp>
      <p:sp>
        <p:nvSpPr>
          <p:cNvPr id="34" name="Espaço Reservado para Texto 33">
            <a:extLst>
              <a:ext uri="{FF2B5EF4-FFF2-40B4-BE49-F238E27FC236}">
                <a16:creationId xmlns:a16="http://schemas.microsoft.com/office/drawing/2014/main" id="{56E7F0F0-690B-4174-AA92-B87DEFE83E7F}"/>
              </a:ext>
            </a:extLst>
          </p:cNvPr>
          <p:cNvSpPr>
            <a:spLocks noGrp="1"/>
          </p:cNvSpPr>
          <p:nvPr>
            <p:ph type="body" sz="quarter" idx="16"/>
          </p:nvPr>
        </p:nvSpPr>
        <p:spPr/>
        <p:txBody>
          <a:bodyPr/>
          <a:lstStyle/>
          <a:p>
            <a:r>
              <a:rPr lang="pt-BR" dirty="0"/>
              <a:t>Ferramentas de desenvolvimento moderno</a:t>
            </a:r>
          </a:p>
        </p:txBody>
      </p:sp>
      <p:sp>
        <p:nvSpPr>
          <p:cNvPr id="38" name="Espaço Reservado para Texto 37">
            <a:extLst>
              <a:ext uri="{FF2B5EF4-FFF2-40B4-BE49-F238E27FC236}">
                <a16:creationId xmlns:a16="http://schemas.microsoft.com/office/drawing/2014/main" id="{45B538B3-9A18-6841-5842-F1A66A703985}"/>
              </a:ext>
            </a:extLst>
          </p:cNvPr>
          <p:cNvSpPr>
            <a:spLocks noGrp="1"/>
          </p:cNvSpPr>
          <p:nvPr>
            <p:ph type="body" sz="quarter" idx="20"/>
          </p:nvPr>
        </p:nvSpPr>
        <p:spPr/>
        <p:txBody>
          <a:bodyPr/>
          <a:lstStyle/>
          <a:p>
            <a:r>
              <a:rPr lang="pt-BR" dirty="0"/>
              <a:t>26</a:t>
            </a:r>
          </a:p>
        </p:txBody>
      </p:sp>
      <p:pic>
        <p:nvPicPr>
          <p:cNvPr id="6" name="Imagem 5">
            <a:extLst>
              <a:ext uri="{FF2B5EF4-FFF2-40B4-BE49-F238E27FC236}">
                <a16:creationId xmlns:a16="http://schemas.microsoft.com/office/drawing/2014/main" id="{4955CA5B-6148-4CCB-68C5-D9F59498634A}"/>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992B50E2-AAB0-8DCF-2F22-B86491600BB1}"/>
              </a:ext>
            </a:extLst>
          </p:cNvPr>
          <p:cNvPicPr>
            <a:picLocks/>
          </p:cNvPicPr>
          <p:nvPr/>
        </p:nvPicPr>
        <p:blipFill>
          <a:blip r:embed="rId3"/>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64B00386-8F84-CF20-B2F4-B29311E177E2}"/>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42" name="Google Shape;329;p3">
            <a:extLst>
              <a:ext uri="{FF2B5EF4-FFF2-40B4-BE49-F238E27FC236}">
                <a16:creationId xmlns:a16="http://schemas.microsoft.com/office/drawing/2014/main" id="{0626987E-A075-8543-8ED1-9443B23E2BA6}"/>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
        <p:nvSpPr>
          <p:cNvPr id="4" name="Espaço Reservado para Texto 34">
            <a:extLst>
              <a:ext uri="{FF2B5EF4-FFF2-40B4-BE49-F238E27FC236}">
                <a16:creationId xmlns:a16="http://schemas.microsoft.com/office/drawing/2014/main" id="{05D9C4C1-C2D4-59EF-074E-5375A8924283}"/>
              </a:ext>
            </a:extLst>
          </p:cNvPr>
          <p:cNvSpPr>
            <a:spLocks noGrp="1"/>
          </p:cNvSpPr>
          <p:nvPr>
            <p:ph type="body" sz="quarter" idx="17"/>
          </p:nvPr>
        </p:nvSpPr>
        <p:spPr>
          <a:xfrm>
            <a:off x="9764360" y="1532502"/>
            <a:ext cx="3660214" cy="840316"/>
          </a:xfrm>
        </p:spPr>
        <p:txBody>
          <a:bodyPr/>
          <a:lstStyle/>
          <a:p>
            <a:r>
              <a:rPr lang="pt-BR" dirty="0"/>
              <a:t>Ferramentas avançadas para estilização</a:t>
            </a:r>
          </a:p>
        </p:txBody>
      </p:sp>
    </p:spTree>
    <p:extLst>
      <p:ext uri="{BB962C8B-B14F-4D97-AF65-F5344CB8AC3E}">
        <p14:creationId xmlns:p14="http://schemas.microsoft.com/office/powerpoint/2010/main" val="414038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76F3-BB22-9409-2027-A3156A9837A0}"/>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79C984AE-8925-030F-F9AA-14343DAE3FF8}"/>
              </a:ext>
            </a:extLst>
          </p:cNvPr>
          <p:cNvSpPr txBox="1"/>
          <p:nvPr/>
        </p:nvSpPr>
        <p:spPr>
          <a:xfrm>
            <a:off x="2412396" y="6388218"/>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Ferramentas avançadas para estilização</a:t>
            </a:r>
          </a:p>
        </p:txBody>
      </p:sp>
      <p:sp>
        <p:nvSpPr>
          <p:cNvPr id="43" name="Google Shape;345;p4">
            <a:extLst>
              <a:ext uri="{FF2B5EF4-FFF2-40B4-BE49-F238E27FC236}">
                <a16:creationId xmlns:a16="http://schemas.microsoft.com/office/drawing/2014/main" id="{F437AC13-8826-D188-33FC-B7417F5F881A}"/>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dirty="0">
                <a:solidFill>
                  <a:srgbClr val="FA161E"/>
                </a:solidFill>
                <a:latin typeface="Poppins"/>
                <a:ea typeface="Poppins"/>
                <a:cs typeface="Poppins"/>
                <a:sym typeface="Poppins"/>
              </a:rPr>
              <a:t>Você está aqui!</a:t>
            </a:r>
            <a:endParaRPr sz="2400" dirty="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5DD6F779-A5B9-707C-0AD3-E54C8A002A15}"/>
              </a:ext>
            </a:extLst>
          </p:cNvPr>
          <p:cNvSpPr txBox="1"/>
          <p:nvPr/>
        </p:nvSpPr>
        <p:spPr>
          <a:xfrm>
            <a:off x="2412396" y="9204410"/>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C3B4S24A3</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D6835A25-E4EE-B7ED-6E03-E5EA36AEA236}"/>
              </a:ext>
            </a:extLst>
          </p:cNvPr>
          <p:cNvSpPr txBox="1"/>
          <p:nvPr/>
        </p:nvSpPr>
        <p:spPr>
          <a:xfrm>
            <a:off x="2412397" y="7861217"/>
            <a:ext cx="7764896" cy="65960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spcBef>
                <a:spcPts val="0"/>
              </a:spcBef>
            </a:pPr>
            <a:r>
              <a:rPr lang="pt-BR" sz="3600" b="1" dirty="0">
                <a:solidFill>
                  <a:schemeClr val="tx1"/>
                </a:solidFill>
                <a:latin typeface="Poppins" panose="00000500000000000000" pitchFamily="2" charset="0"/>
                <a:cs typeface="Poppins" panose="00000500000000000000" pitchFamily="2" charset="0"/>
              </a:rPr>
              <a:t>Aula 3: Animações e transições com CSS e JavaScript</a:t>
            </a:r>
          </a:p>
        </p:txBody>
      </p:sp>
      <p:sp>
        <p:nvSpPr>
          <p:cNvPr id="46" name="Google Shape;341;p4">
            <a:extLst>
              <a:ext uri="{FF2B5EF4-FFF2-40B4-BE49-F238E27FC236}">
                <a16:creationId xmlns:a16="http://schemas.microsoft.com/office/drawing/2014/main" id="{7AE36436-6D28-B2A7-163C-89FB341AD9E5}"/>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dirty="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79BAAE87-BE98-4B3F-C964-9F37918FFE2D}"/>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dirty="0">
                <a:solidFill>
                  <a:srgbClr val="FFFFFF"/>
                </a:solidFill>
                <a:latin typeface="Poppins"/>
                <a:ea typeface="Calibri"/>
                <a:cs typeface="Poppins"/>
                <a:sym typeface="Poppins"/>
              </a:rPr>
              <a:t>24</a:t>
            </a:r>
            <a:endParaRPr sz="6000" dirty="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844C7607-A666-9E1C-A573-A60623B21D98}"/>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A86423E0-EB43-2B18-B63E-54E23B52339E}"/>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0DFA3FDB-D9D7-6EA3-3D6B-EFA6B029BB87}"/>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CB9E3B2C-69CF-0937-3493-5163E1640912}"/>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17" name="Google Shape;329;p3">
            <a:extLst>
              <a:ext uri="{FF2B5EF4-FFF2-40B4-BE49-F238E27FC236}">
                <a16:creationId xmlns:a16="http://schemas.microsoft.com/office/drawing/2014/main" id="{5EA509DF-F00C-264F-9A9B-3B7199CE4E52}"/>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Tree>
    <p:extLst>
      <p:ext uri="{BB962C8B-B14F-4D97-AF65-F5344CB8AC3E}">
        <p14:creationId xmlns:p14="http://schemas.microsoft.com/office/powerpoint/2010/main" val="1065853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5434179"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Criar animações e transições utilizando CSS e JavaScript.</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5097717"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Utilizar pré-processadores CSS, como SASS e LESS.</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570372"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Desenvolver a criatividade ao criar estilos avançados.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201863" y="4536122"/>
            <a:ext cx="5037632"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spcAft>
                <a:spcPts val="600"/>
              </a:spcAft>
              <a:buFont typeface="Arial" panose="020B0604020202020204" pitchFamily="34" charset="0"/>
              <a:buChar char="•"/>
            </a:pPr>
            <a:r>
              <a:rPr lang="pt-BR" sz="2000" dirty="0">
                <a:latin typeface="Poppins" panose="00000500000000000000" pitchFamily="2" charset="0"/>
                <a:cs typeface="Poppins" panose="00000500000000000000" pitchFamily="2" charset="0"/>
              </a:rPr>
              <a:t>Recurso audiovisual para exibição de vídeos e imagens.</a:t>
            </a:r>
          </a:p>
          <a:p>
            <a:pPr marL="285750" indent="-285750">
              <a:spcAft>
                <a:spcPts val="600"/>
              </a:spcAft>
              <a:buFont typeface="Arial" panose="020B0604020202020204" pitchFamily="34" charset="0"/>
              <a:buChar char="•"/>
            </a:pPr>
            <a:r>
              <a:rPr lang="pt-BR" sz="2000" dirty="0">
                <a:latin typeface="Poppins" panose="00000500000000000000" pitchFamily="2" charset="0"/>
                <a:cs typeface="Poppins" panose="00000500000000000000" pitchFamily="2" charset="0"/>
              </a:rPr>
              <a:t>Caneta e </a:t>
            </a:r>
            <a:r>
              <a:rPr lang="pt-BR" dirty="0">
                <a:latin typeface="Poppins" panose="00000500000000000000" pitchFamily="2" charset="0"/>
                <a:cs typeface="Poppins" panose="00000500000000000000" pitchFamily="2" charset="0"/>
              </a:rPr>
              <a:t>caderno.</a:t>
            </a:r>
          </a:p>
          <a:p>
            <a:pPr marL="285750" indent="-285750">
              <a:spcAft>
                <a:spcPts val="600"/>
              </a:spcAft>
              <a:buFont typeface="Arial" panose="020B0604020202020204" pitchFamily="34" charset="0"/>
              <a:buChar char="•"/>
            </a:pPr>
            <a:r>
              <a:rPr lang="pt-BR" dirty="0">
                <a:latin typeface="Poppins" panose="00000500000000000000" pitchFamily="2" charset="0"/>
                <a:cs typeface="Poppins" panose="00000500000000000000" pitchFamily="2" charset="0"/>
              </a:rPr>
              <a:t>Laboratório de informática.</a:t>
            </a:r>
          </a:p>
          <a:p>
            <a:pPr marL="285750" indent="-285750">
              <a:spcAft>
                <a:spcPts val="600"/>
              </a:spcAft>
              <a:buFont typeface="Arial" panose="020B0604020202020204" pitchFamily="34" charset="0"/>
              <a:buChar char="•"/>
            </a:pPr>
            <a:r>
              <a:rPr lang="pt-BR" dirty="0">
                <a:latin typeface="Poppins" panose="00000500000000000000" pitchFamily="2" charset="0"/>
                <a:cs typeface="Poppins" panose="00000500000000000000" pitchFamily="2" charset="0"/>
              </a:rPr>
              <a:t>Roteiro de atividade prática.</a:t>
            </a:r>
          </a:p>
        </p:txBody>
      </p:sp>
    </p:spTree>
    <p:extLst>
      <p:ext uri="{BB962C8B-B14F-4D97-AF65-F5344CB8AC3E}">
        <p14:creationId xmlns:p14="http://schemas.microsoft.com/office/powerpoint/2010/main" val="194543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17302-34D3-A463-DE6B-F01AC45BC9AE}"/>
            </a:ext>
          </a:extLst>
        </p:cNvPr>
        <p:cNvGrpSpPr/>
        <p:nvPr/>
      </p:nvGrpSpPr>
      <p:grpSpPr>
        <a:xfrm>
          <a:off x="0" y="0"/>
          <a:ext cx="0" cy="0"/>
          <a:chOff x="0" y="0"/>
          <a:chExt cx="0" cy="0"/>
        </a:xfrm>
      </p:grpSpPr>
      <p:sp>
        <p:nvSpPr>
          <p:cNvPr id="22" name="Espaço Reservado para Texto 42">
            <a:extLst>
              <a:ext uri="{FF2B5EF4-FFF2-40B4-BE49-F238E27FC236}">
                <a16:creationId xmlns:a16="http://schemas.microsoft.com/office/drawing/2014/main" id="{09305B8A-AD19-FB9F-CEA6-57B04BE43739}"/>
              </a:ext>
            </a:extLst>
          </p:cNvPr>
          <p:cNvSpPr>
            <a:spLocks noGrp="1"/>
          </p:cNvSpPr>
          <p:nvPr>
            <p:ph type="body" sz="quarter" idx="10"/>
          </p:nvPr>
        </p:nvSpPr>
        <p:spPr>
          <a:xfrm>
            <a:off x="4286886" y="953953"/>
            <a:ext cx="13240773" cy="785638"/>
          </a:xfrm>
          <a:prstGeom prst="rect">
            <a:avLst/>
          </a:prstGeom>
        </p:spPr>
        <p:txBody>
          <a:bodyPr>
            <a:normAutofit/>
          </a:bodyPr>
          <a:lstStyle/>
          <a:p>
            <a:pPr marL="0" indent="0"/>
            <a:r>
              <a:rPr lang="pt-BR" sz="4500" b="1" dirty="0">
                <a:solidFill>
                  <a:srgbClr val="FF161F"/>
                </a:solidFill>
                <a:latin typeface="Poppins" pitchFamily="2" charset="77"/>
                <a:cs typeface="Poppins" pitchFamily="2" charset="77"/>
              </a:rPr>
              <a:t>Implementação de animações e transições</a:t>
            </a:r>
          </a:p>
          <a:p>
            <a:pPr lvl="0"/>
            <a:endParaRPr lang="pt-BR" sz="4500" b="1" dirty="0">
              <a:solidFill>
                <a:srgbClr val="FF161F"/>
              </a:solidFill>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AA7CEE62-4E8E-DCD0-8C8D-051F8C73CEAE}"/>
              </a:ext>
            </a:extLst>
          </p:cNvPr>
          <p:cNvSpPr>
            <a:spLocks noGrp="1"/>
          </p:cNvSpPr>
          <p:nvPr>
            <p:ph type="body" sz="quarter" idx="12"/>
          </p:nvPr>
        </p:nvSpPr>
        <p:spPr>
          <a:xfrm>
            <a:off x="1461805" y="6511422"/>
            <a:ext cx="2378590" cy="642937"/>
          </a:xfrm>
          <a:prstGeom prst="rect">
            <a:avLst/>
          </a:prstGeom>
        </p:spPr>
        <p:txBody>
          <a:bodyPr/>
          <a:lstStyle/>
          <a:p>
            <a:pPr lvl="0"/>
            <a:r>
              <a:rPr lang="pt-BR" sz="1800" b="1" dirty="0">
                <a:latin typeface="Poppins" pitchFamily="2" charset="77"/>
                <a:cs typeface="Poppins" pitchFamily="2" charset="77"/>
              </a:rPr>
              <a:t>48 minutos</a:t>
            </a:r>
          </a:p>
        </p:txBody>
      </p:sp>
      <p:pic>
        <p:nvPicPr>
          <p:cNvPr id="5" name="Google Shape;578;p38">
            <a:extLst>
              <a:ext uri="{FF2B5EF4-FFF2-40B4-BE49-F238E27FC236}">
                <a16:creationId xmlns:a16="http://schemas.microsoft.com/office/drawing/2014/main" id="{B1A855AE-42E2-98F6-0763-F1737C7E0E7D}"/>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679480" y="6478426"/>
            <a:ext cx="457727" cy="457727"/>
          </a:xfrm>
          <a:prstGeom prst="rect">
            <a:avLst/>
          </a:prstGeom>
          <a:noFill/>
          <a:ln>
            <a:noFill/>
          </a:ln>
        </p:spPr>
      </p:pic>
      <p:sp>
        <p:nvSpPr>
          <p:cNvPr id="47" name="Google Shape;1317;p91">
            <a:extLst>
              <a:ext uri="{FF2B5EF4-FFF2-40B4-BE49-F238E27FC236}">
                <a16:creationId xmlns:a16="http://schemas.microsoft.com/office/drawing/2014/main" id="{8A59D578-E7E2-E06D-882A-0948D6CC93F4}"/>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ts val="22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ts val="22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ts val="22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1 caneta.</a:t>
            </a:r>
          </a:p>
        </p:txBody>
      </p:sp>
      <p:sp>
        <p:nvSpPr>
          <p:cNvPr id="48" name="Google Shape;1318;p91">
            <a:extLst>
              <a:ext uri="{FF2B5EF4-FFF2-40B4-BE49-F238E27FC236}">
                <a16:creationId xmlns:a16="http://schemas.microsoft.com/office/drawing/2014/main" id="{4CB77E73-FA1C-6587-1D1E-647C6841E717}"/>
              </a:ext>
            </a:extLst>
          </p:cNvPr>
          <p:cNvSpPr txBox="1"/>
          <p:nvPr/>
        </p:nvSpPr>
        <p:spPr>
          <a:xfrm>
            <a:off x="11100000" y="4513907"/>
            <a:ext cx="5423368" cy="317005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marR="0" lvl="0" indent="-457200" algn="l" defTabSz="914400" rtl="0" eaLnBrk="1" fontAlgn="auto" latinLnBrk="0" hangingPunct="1">
              <a:lnSpc>
                <a:spcPct val="100000"/>
              </a:lnSpc>
              <a:spcBef>
                <a:spcPts val="0"/>
              </a:spcBef>
              <a:spcAft>
                <a:spcPts val="0"/>
              </a:spcAft>
              <a:buClr>
                <a:srgbClr val="000000"/>
              </a:buClr>
              <a:buSzPts val="22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a atividade proposta no roteiro;</a:t>
            </a:r>
          </a:p>
          <a:p>
            <a:pPr marL="457200" marR="0" lvl="0" indent="-457200" algn="l" defTabSz="914400" rtl="0" eaLnBrk="1" fontAlgn="auto" latinLnBrk="0" hangingPunct="1">
              <a:lnSpc>
                <a:spcPct val="100000"/>
              </a:lnSpc>
              <a:spcBef>
                <a:spcPts val="0"/>
              </a:spcBef>
              <a:spcAft>
                <a:spcPts val="0"/>
              </a:spcAft>
              <a:buClr>
                <a:srgbClr val="000000"/>
              </a:buClr>
              <a:buSzPts val="22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ts val="22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a atividade prática, realizem esboços no papel para definir sua intenção e resultado;​</a:t>
            </a:r>
          </a:p>
          <a:p>
            <a:pPr marL="457200" marR="0" lvl="0" indent="-457200" algn="l" defTabSz="914400" rtl="0" eaLnBrk="1" fontAlgn="auto" latinLnBrk="0" hangingPunct="1">
              <a:lnSpc>
                <a:spcPct val="100000"/>
              </a:lnSpc>
              <a:spcBef>
                <a:spcPts val="0"/>
              </a:spcBef>
              <a:spcAft>
                <a:spcPts val="0"/>
              </a:spcAft>
              <a:buClr>
                <a:srgbClr val="000000"/>
              </a:buClr>
              <a:buSzPts val="22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ts val="22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49" name="Espaço Reservado para Texto 42">
            <a:extLst>
              <a:ext uri="{FF2B5EF4-FFF2-40B4-BE49-F238E27FC236}">
                <a16:creationId xmlns:a16="http://schemas.microsoft.com/office/drawing/2014/main" id="{139718B4-415B-8E89-AAE6-26C4FB759FEB}"/>
              </a:ext>
            </a:extLst>
          </p:cNvPr>
          <p:cNvSpPr txBox="1">
            <a:spLocks/>
          </p:cNvSpPr>
          <p:nvPr/>
        </p:nvSpPr>
        <p:spPr>
          <a:xfrm>
            <a:off x="1461805" y="7407100"/>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Em dupla</a:t>
            </a:r>
          </a:p>
        </p:txBody>
      </p:sp>
      <p:pic>
        <p:nvPicPr>
          <p:cNvPr id="50" name="Gráfico 49">
            <a:extLst>
              <a:ext uri="{FF2B5EF4-FFF2-40B4-BE49-F238E27FC236}">
                <a16:creationId xmlns:a16="http://schemas.microsoft.com/office/drawing/2014/main" id="{3AA084DF-63F4-4579-D4ED-4FE3869132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382" y="7368467"/>
            <a:ext cx="504825" cy="457200"/>
          </a:xfrm>
          <a:prstGeom prst="rect">
            <a:avLst/>
          </a:prstGeom>
        </p:spPr>
      </p:pic>
      <p:pic>
        <p:nvPicPr>
          <p:cNvPr id="6" name="Gráfico 5">
            <a:extLst>
              <a:ext uri="{FF2B5EF4-FFF2-40B4-BE49-F238E27FC236}">
                <a16:creationId xmlns:a16="http://schemas.microsoft.com/office/drawing/2014/main" id="{C636E037-DF73-2C7A-C602-44CD3CD3DC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896" y="8268892"/>
            <a:ext cx="463796" cy="404861"/>
          </a:xfrm>
          <a:prstGeom prst="rect">
            <a:avLst/>
          </a:prstGeom>
        </p:spPr>
      </p:pic>
      <p:sp>
        <p:nvSpPr>
          <p:cNvPr id="7" name="CaixaDeTexto 6">
            <a:extLst>
              <a:ext uri="{FF2B5EF4-FFF2-40B4-BE49-F238E27FC236}">
                <a16:creationId xmlns:a16="http://schemas.microsoft.com/office/drawing/2014/main" id="{0D6A3BC9-15E1-0416-A7CC-D0D9866F1AE7}"/>
              </a:ext>
            </a:extLst>
          </p:cNvPr>
          <p:cNvSpPr txBox="1"/>
          <p:nvPr/>
        </p:nvSpPr>
        <p:spPr>
          <a:xfrm>
            <a:off x="1461805" y="8179684"/>
            <a:ext cx="2477203" cy="642937"/>
          </a:xfrm>
          <a:prstGeom prst="rect">
            <a:avLst/>
          </a:prstGeom>
          <a:noFill/>
          <a:ln>
            <a:noFill/>
          </a:ln>
        </p:spPr>
        <p:txBody>
          <a:bodyPr spcFirstLastPara="1" wrap="none" lIns="91425" tIns="45700" rIns="91425" bIns="45700" rtlCol="0" anchor="t" anchorCtr="0">
            <a:normAutofit/>
          </a:bodyPr>
          <a:lstStyle/>
          <a:p>
            <a:pPr algn="l"/>
            <a:r>
              <a:rPr lang="pt-BR" sz="1700" b="1" dirty="0">
                <a:latin typeface="Poppins" panose="00000500000000000000" pitchFamily="2" charset="0"/>
                <a:cs typeface="Poppins" panose="00000500000000000000" pitchFamily="2" charset="0"/>
              </a:rPr>
              <a:t>Envie o relatório </a:t>
            </a:r>
          </a:p>
          <a:p>
            <a:pPr algn="l"/>
            <a:r>
              <a:rPr lang="pt-BR" sz="1700" b="1" dirty="0">
                <a:latin typeface="Poppins" panose="00000500000000000000" pitchFamily="2" charset="0"/>
                <a:cs typeface="Poppins" panose="00000500000000000000" pitchFamily="2" charset="0"/>
              </a:rPr>
              <a:t>pelo AVA</a:t>
            </a:r>
          </a:p>
        </p:txBody>
      </p:sp>
      <p:sp>
        <p:nvSpPr>
          <p:cNvPr id="8" name="Google Shape;812;p61">
            <a:extLst>
              <a:ext uri="{FF2B5EF4-FFF2-40B4-BE49-F238E27FC236}">
                <a16:creationId xmlns:a16="http://schemas.microsoft.com/office/drawing/2014/main" id="{0E045C3F-C30A-8D18-1A76-F90C4D6B96B4}"/>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9" name="Gráfico 8">
            <a:extLst>
              <a:ext uri="{FF2B5EF4-FFF2-40B4-BE49-F238E27FC236}">
                <a16:creationId xmlns:a16="http://schemas.microsoft.com/office/drawing/2014/main" id="{5859940D-1846-5381-66DC-F91B98C5CC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527659" y="368881"/>
            <a:ext cx="653903" cy="585071"/>
          </a:xfrm>
          <a:prstGeom prst="rect">
            <a:avLst/>
          </a:prstGeom>
        </p:spPr>
      </p:pic>
      <p:sp>
        <p:nvSpPr>
          <p:cNvPr id="10" name="Google Shape;833;p62">
            <a:extLst>
              <a:ext uri="{FF2B5EF4-FFF2-40B4-BE49-F238E27FC236}">
                <a16:creationId xmlns:a16="http://schemas.microsoft.com/office/drawing/2014/main" id="{127682E1-A545-E04A-0322-FDAD458FC1F9}"/>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Tree>
    <p:extLst>
      <p:ext uri="{BB962C8B-B14F-4D97-AF65-F5344CB8AC3E}">
        <p14:creationId xmlns:p14="http://schemas.microsoft.com/office/powerpoint/2010/main" val="755965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26588"/>
            <a:ext cx="9531863" cy="1176340"/>
          </a:xfrm>
        </p:spPr>
        <p:txBody>
          <a:bodyPr>
            <a:noAutofit/>
          </a:bodyPr>
          <a:lstStyle/>
          <a:p>
            <a:pPr marL="0" indent="0"/>
            <a:r>
              <a:rPr lang="pt-BR" sz="2400" dirty="0"/>
              <a:t>Aprendemos como utilizar transições CSS para suavizar mudanças visuais, como a alteração de cores e tamanhos.</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515810"/>
            <a:ext cx="9531863" cy="2206713"/>
          </a:xfrm>
        </p:spPr>
        <p:txBody>
          <a:bodyPr>
            <a:noAutofit/>
          </a:bodyPr>
          <a:lstStyle/>
          <a:p>
            <a:pPr marL="0" indent="0"/>
            <a:r>
              <a:rPr lang="pt-BR" sz="2400" dirty="0"/>
              <a:t>Compreendemos como integrar JavaScript para adicionar interatividade ao design, permitindo que o comportamento da página mude de acordo com as ações do usuário.</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305034"/>
            <a:ext cx="9531863" cy="1277795"/>
          </a:xfrm>
        </p:spPr>
        <p:txBody>
          <a:bodyPr>
            <a:noAutofit/>
          </a:bodyPr>
          <a:lstStyle/>
          <a:p>
            <a:pPr marL="0" indent="0"/>
            <a:r>
              <a:rPr lang="pt-BR" sz="2400" dirty="0"/>
              <a:t>Exploramos animações CSS para criar efeitos dinâmicos com @keyframes, proporcionando uma experiência visual mais envolvente.</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3839611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8560420" y="2482479"/>
            <a:ext cx="8610600" cy="3873716"/>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pPr>
            <a:r>
              <a:rPr lang="pt-BR" sz="2400" dirty="0">
                <a:latin typeface="Poppins" pitchFamily="2" charset="77"/>
                <a:cs typeface="Poppins" pitchFamily="2" charset="77"/>
              </a:rPr>
              <a:t>Quer entender como o Grid System em CSS3 pode transformar o design responsivo do seu site? Clique no lin</a:t>
            </a:r>
            <a:r>
              <a:rPr lang="pt-BR" sz="2400" dirty="0"/>
              <a:t>k abaixo e veja</a:t>
            </a:r>
            <a:r>
              <a:rPr lang="pt-BR" sz="2400" dirty="0">
                <a:latin typeface="Poppins" pitchFamily="2" charset="77"/>
                <a:cs typeface="Poppins" pitchFamily="2" charset="77"/>
              </a:rPr>
              <a:t> os detalhes de uma das técnicas mais usadas para layouts modernos.</a:t>
            </a:r>
            <a:endParaRPr lang="en-US" sz="2400" dirty="0"/>
          </a:p>
          <a:p>
            <a:pPr marL="0" indent="0">
              <a:spcBef>
                <a:spcPts val="0"/>
              </a:spcBef>
              <a:spcAft>
                <a:spcPts val="1800"/>
              </a:spcAft>
            </a:pPr>
            <a:r>
              <a:rPr lang="pt-BR" sz="2400" dirty="0">
                <a:solidFill>
                  <a:srgbClr val="333333"/>
                </a:solidFill>
                <a:latin typeface="Poppins"/>
                <a:cs typeface="Arial"/>
              </a:rPr>
              <a:t>RICARDO. Entendendo o GridSystem em CSS3. </a:t>
            </a:r>
            <a:r>
              <a:rPr lang="pt-BR" sz="2400" b="1" dirty="0">
                <a:solidFill>
                  <a:srgbClr val="333333"/>
                </a:solidFill>
                <a:latin typeface="Poppins"/>
                <a:cs typeface="Arial"/>
              </a:rPr>
              <a:t>DevMedia</a:t>
            </a:r>
            <a:r>
              <a:rPr lang="pt-BR" sz="2400" dirty="0">
                <a:solidFill>
                  <a:srgbClr val="333333"/>
                </a:solidFill>
                <a:latin typeface="Poppins"/>
                <a:cs typeface="Arial"/>
              </a:rPr>
              <a:t>, 2013. Disponível em: </a:t>
            </a:r>
            <a:r>
              <a:rPr lang="pt-BR" sz="2400" dirty="0">
                <a:solidFill>
                  <a:srgbClr val="333333"/>
                </a:solidFill>
                <a:latin typeface="Poppins"/>
                <a:cs typeface="Arial"/>
                <a:hlinkClick r:id="rId3"/>
              </a:rPr>
              <a:t>https://www.devmedia.com.br/entendendo-o-gridsystem-em-css3/27721</a:t>
            </a:r>
            <a:r>
              <a:rPr lang="pt-BR" sz="2400" dirty="0">
                <a:solidFill>
                  <a:srgbClr val="333333"/>
                </a:solidFill>
                <a:latin typeface="Poppins"/>
                <a:cs typeface="Arial"/>
              </a:rPr>
              <a:t>. Acesso em: 22 abr. 2025.</a:t>
            </a:r>
            <a:endParaRPr lang="pt-BR" sz="2400" dirty="0">
              <a:latin typeface="Poppins" pitchFamily="2" charset="77"/>
              <a:cs typeface="Poppins" pitchFamily="2" charset="77"/>
            </a:endParaRPr>
          </a:p>
          <a:p>
            <a:pPr marL="0" lvl="0" indent="0" algn="l" rtl="0">
              <a:lnSpc>
                <a:spcPct val="100000"/>
              </a:lnSpc>
              <a:spcBef>
                <a:spcPts val="0"/>
              </a:spcBef>
              <a:spcAft>
                <a:spcPts val="1800"/>
              </a:spcAft>
              <a:buClr>
                <a:schemeClr val="lt1"/>
              </a:buClr>
              <a:buSzPts val="2800"/>
              <a:buNone/>
            </a:pPr>
            <a:endParaRPr sz="2400" dirty="0">
              <a:latin typeface="Poppins" pitchFamily="2" charset="77"/>
              <a:cs typeface="Poppins" pitchFamily="2" charset="77"/>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536187" y="2679700"/>
            <a:ext cx="477450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1" i="0" u="none" strike="noStrike" cap="none" dirty="0">
                <a:solidFill>
                  <a:schemeClr val="bg1"/>
                </a:solidFill>
                <a:latin typeface="Poppins"/>
                <a:ea typeface="Poppins"/>
                <a:cs typeface="Poppins"/>
                <a:sym typeface="Poppins"/>
              </a:rPr>
              <a:t>Saiba mais</a:t>
            </a:r>
            <a:endParaRPr lang="pt-BR" sz="6000" b="0" i="0" u="none" strike="noStrike" cap="none" dirty="0">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164837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034031" y="2781300"/>
            <a:ext cx="15874828" cy="6340398"/>
          </a:xfrm>
        </p:spPr>
        <p:txBody>
          <a:bodyPr>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FREECODECAMP. </a:t>
            </a:r>
            <a:r>
              <a:rPr lang="pt-BR" sz="2400" b="1" dirty="0">
                <a:latin typeface="Poppins" panose="00000500000000000000" pitchFamily="2" charset="0"/>
                <a:cs typeface="Poppins" panose="00000500000000000000" pitchFamily="2" charset="0"/>
              </a:rPr>
              <a:t>Exemplos de transição em CSS </a:t>
            </a:r>
            <a:r>
              <a:rPr lang="pt-BR" sz="2400" dirty="0">
                <a:latin typeface="Poppins" panose="00000500000000000000" pitchFamily="2" charset="0"/>
                <a:cs typeface="Poppins" panose="00000500000000000000" pitchFamily="2" charset="0"/>
              </a:rPr>
              <a:t>– como usar a animação ao passar o mouse, alterar a opacidade e mais, 9 maio 2022. Disponível em: </a:t>
            </a:r>
            <a:r>
              <a:rPr lang="pt-BR" sz="2400" dirty="0">
                <a:latin typeface="Poppins" panose="00000500000000000000" pitchFamily="2" charset="0"/>
                <a:cs typeface="Poppins" panose="00000500000000000000" pitchFamily="2" charset="0"/>
                <a:hlinkClick r:id="rId3"/>
              </a:rPr>
              <a:t>https://www.freecodecamp.org/portuguese/news/exemplos-de-transicao-em-css-como-usar-a-animacao-ao-passar-o-mouse-alterar-a-opacidade-e-mais</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MANUEL, J. L. A. Como fazer as estrelas usando CSS clip-path property. </a:t>
            </a:r>
            <a:r>
              <a:rPr lang="pt-BR" sz="2400" b="1" dirty="0">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13 fev. 2023. Disponível em: </a:t>
            </a:r>
            <a:r>
              <a:rPr lang="pt-BR" sz="2400" dirty="0">
                <a:latin typeface="Poppins" panose="00000500000000000000" pitchFamily="2" charset="0"/>
                <a:cs typeface="Poppins" panose="00000500000000000000" pitchFamily="2" charset="0"/>
                <a:hlinkClick r:id="rId4"/>
              </a:rPr>
              <a:t>https://cursos.alura.com.br/forum/topico-como-fazer-as-estrelas-usando-css-clip-path-property-272437</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RICARDO. Entendendo o GridSystem em CSS3. </a:t>
            </a:r>
            <a:r>
              <a:rPr lang="pt-BR" sz="2400" b="1" dirty="0">
                <a:latin typeface="Poppins" panose="00000500000000000000" pitchFamily="2" charset="0"/>
                <a:cs typeface="Poppins" panose="00000500000000000000" pitchFamily="2" charset="0"/>
              </a:rPr>
              <a:t>DevMedia</a:t>
            </a:r>
            <a:r>
              <a:rPr lang="pt-BR" sz="2400" dirty="0">
                <a:latin typeface="Poppins" panose="00000500000000000000" pitchFamily="2" charset="0"/>
                <a:cs typeface="Poppins" panose="00000500000000000000" pitchFamily="2" charset="0"/>
              </a:rPr>
              <a:t>, 2013. Disponível em: </a:t>
            </a:r>
            <a:r>
              <a:rPr lang="pt-BR" sz="2400" dirty="0">
                <a:latin typeface="Poppins" panose="00000500000000000000" pitchFamily="2" charset="0"/>
                <a:cs typeface="Poppins" panose="00000500000000000000" pitchFamily="2" charset="0"/>
                <a:hlinkClick r:id="rId5"/>
              </a:rPr>
              <a:t>https://www.devmedia.com.br/entendendo-o-gridsystem-em-css3/27721</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SOUTO, M. CSS: animações com Transition e Animation. </a:t>
            </a:r>
            <a:r>
              <a:rPr lang="pt-BR" sz="2400" b="1" dirty="0">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6 nov. 2019. Disponível em: </a:t>
            </a:r>
            <a:r>
              <a:rPr lang="pt-BR" sz="2400" dirty="0">
                <a:latin typeface="Poppins" panose="00000500000000000000" pitchFamily="2" charset="0"/>
                <a:cs typeface="Poppins" panose="00000500000000000000" pitchFamily="2" charset="0"/>
                <a:hlinkClick r:id="rId6"/>
              </a:rPr>
              <a:t>https://www.alura.com.br/artigos/css-animacoes-com-transitions-animations?srsltid=AfmBOorcPi_LoMb_nV_7aGwWJpozK4MZDCL0XyXjZDdJpRB9oPGjd8Dr</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401821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DBAAA2-725A-FB80-608C-BDC04CF2BD0D}"/>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1D5EAC7D-5100-3AC1-507A-0ED89C05A1A1}"/>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313617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6A162B-B204-B691-0127-059713867731}"/>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92AE4781-4CB7-752E-03BE-83F37944391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F1561DCB-8247-EA36-26A0-85AD8E91F08D}"/>
              </a:ext>
            </a:extLst>
          </p:cNvPr>
          <p:cNvCxnSpPr>
            <a:cxnSpLocks/>
          </p:cNvCxnSpPr>
          <p:nvPr/>
        </p:nvCxnSpPr>
        <p:spPr>
          <a:xfrm flipV="1">
            <a:off x="868312" y="158073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407D1D53-5AF3-56FE-C34E-4E117E5FFD9B}"/>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4" name="Google Shape;2216;p100">
            <a:extLst>
              <a:ext uri="{FF2B5EF4-FFF2-40B4-BE49-F238E27FC236}">
                <a16:creationId xmlns:a16="http://schemas.microsoft.com/office/drawing/2014/main" id="{5C546675-F0B4-000B-722C-45BA9A3D99EC}"/>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04FF6BA0-2EC7-5117-867D-01840BF23A41}"/>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p>
        </p:txBody>
      </p:sp>
      <p:sp>
        <p:nvSpPr>
          <p:cNvPr id="3" name="CaixaDeTexto 2">
            <a:extLst>
              <a:ext uri="{FF2B5EF4-FFF2-40B4-BE49-F238E27FC236}">
                <a16:creationId xmlns:a16="http://schemas.microsoft.com/office/drawing/2014/main" id="{480E3B19-14A3-091E-84FB-0A754FE5E9FF}"/>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48 minutos.</a:t>
            </a:r>
            <a:endParaRPr lang="pt-BR" dirty="0"/>
          </a:p>
        </p:txBody>
      </p:sp>
      <p:sp>
        <p:nvSpPr>
          <p:cNvPr id="2" name="Oval 11">
            <a:extLst>
              <a:ext uri="{FF2B5EF4-FFF2-40B4-BE49-F238E27FC236}">
                <a16:creationId xmlns:a16="http://schemas.microsoft.com/office/drawing/2014/main" id="{4D3928F4-90DA-832C-BEC8-EE5CAD456BF6}"/>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4" name="Imagem 3">
            <a:extLst>
              <a:ext uri="{FF2B5EF4-FFF2-40B4-BE49-F238E27FC236}">
                <a16:creationId xmlns:a16="http://schemas.microsoft.com/office/drawing/2014/main" id="{97220884-2EE8-8632-400A-EB343A2C19E2}"/>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6B394BF7-5BFC-2F9A-DB88-03C9AD50A94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21" name="Oval 10">
            <a:extLst>
              <a:ext uri="{FF2B5EF4-FFF2-40B4-BE49-F238E27FC236}">
                <a16:creationId xmlns:a16="http://schemas.microsoft.com/office/drawing/2014/main" id="{ED6DF5AB-97D8-D97E-B99D-233A9C422129}"/>
              </a:ext>
            </a:extLst>
          </p:cNvPr>
          <p:cNvSpPr/>
          <p:nvPr/>
        </p:nvSpPr>
        <p:spPr>
          <a:xfrm>
            <a:off x="581660" y="379392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2F784CC5-5BED-11DB-E9E4-D5B9A453558B}"/>
              </a:ext>
            </a:extLst>
          </p:cNvPr>
          <p:cNvSpPr>
            <a:spLocks/>
          </p:cNvSpPr>
          <p:nvPr/>
        </p:nvSpPr>
        <p:spPr>
          <a:xfrm>
            <a:off x="685177" y="3911569"/>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0" name="Oval 8">
            <a:extLst>
              <a:ext uri="{FF2B5EF4-FFF2-40B4-BE49-F238E27FC236}">
                <a16:creationId xmlns:a16="http://schemas.microsoft.com/office/drawing/2014/main" id="{7190C0E3-6C0A-EEAE-7A11-7E48331E3F6C}"/>
              </a:ext>
            </a:extLst>
          </p:cNvPr>
          <p:cNvSpPr/>
          <p:nvPr/>
        </p:nvSpPr>
        <p:spPr>
          <a:xfrm>
            <a:off x="586340" y="602768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40259E95-414B-7242-AA2D-A18C26C1D9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2252" y="6108867"/>
            <a:ext cx="312039" cy="400050"/>
          </a:xfrm>
          <a:prstGeom prst="rect">
            <a:avLst/>
          </a:prstGeom>
        </p:spPr>
      </p:pic>
      <p:sp>
        <p:nvSpPr>
          <p:cNvPr id="9" name="CaixaDeTexto 8">
            <a:extLst>
              <a:ext uri="{FF2B5EF4-FFF2-40B4-BE49-F238E27FC236}">
                <a16:creationId xmlns:a16="http://schemas.microsoft.com/office/drawing/2014/main" id="{A4A4CAA0-94CC-E713-E102-3FA66004AB4F}"/>
              </a:ext>
            </a:extLst>
          </p:cNvPr>
          <p:cNvSpPr txBox="1"/>
          <p:nvPr/>
        </p:nvSpPr>
        <p:spPr>
          <a:xfrm>
            <a:off x="1206195" y="3982849"/>
            <a:ext cx="16879569" cy="973985"/>
          </a:xfrm>
          <a:prstGeom prst="rect">
            <a:avLst/>
          </a:prstGeom>
          <a:noFill/>
          <a:ln>
            <a:noFill/>
          </a:ln>
        </p:spPr>
        <p:txBody>
          <a:bodyPr wrap="square">
            <a:spAutoFit/>
          </a:bodyPr>
          <a:lstStyle/>
          <a:p>
            <a:pPr marL="228600" indent="0">
              <a:lnSpc>
                <a:spcPct val="107000"/>
              </a:lnSpc>
              <a:spcAft>
                <a:spcPts val="800"/>
              </a:spcAft>
              <a:buFont typeface="Arial" panose="020B0604020202020204" pitchFamily="34" charset="0"/>
              <a:buNone/>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divida os alunos em duplas.</a:t>
            </a:r>
          </a:p>
          <a:p>
            <a:pPr marL="228600" indent="0">
              <a:lnSpc>
                <a:spcPct val="107000"/>
              </a:lnSpc>
              <a:spcAft>
                <a:spcPts val="800"/>
              </a:spcAft>
              <a:buFont typeface="Arial" panose="020B0604020202020204" pitchFamily="34" charset="0"/>
              <a:buNone/>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endParaRPr lang="pt-BR" b="1" dirty="0">
              <a:effectLst/>
              <a:latin typeface="Poppins" panose="00000500000000000000" pitchFamily="2" charset="0"/>
              <a:ea typeface="Aptos" panose="020B0004020202020204" pitchFamily="34" charset="0"/>
              <a:cs typeface="Poppins" panose="00000500000000000000" pitchFamily="2" charset="0"/>
            </a:endParaRPr>
          </a:p>
        </p:txBody>
      </p:sp>
      <p:sp>
        <p:nvSpPr>
          <p:cNvPr id="16" name="CaixaDeTexto 15">
            <a:extLst>
              <a:ext uri="{FF2B5EF4-FFF2-40B4-BE49-F238E27FC236}">
                <a16:creationId xmlns:a16="http://schemas.microsoft.com/office/drawing/2014/main" id="{8DDD2A2A-44A9-020F-1E07-836FCDDD50FC}"/>
              </a:ext>
            </a:extLst>
          </p:cNvPr>
          <p:cNvSpPr txBox="1"/>
          <p:nvPr/>
        </p:nvSpPr>
        <p:spPr>
          <a:xfrm>
            <a:off x="1180351" y="5060576"/>
            <a:ext cx="16669497" cy="307777"/>
          </a:xfrm>
          <a:prstGeom prst="rect">
            <a:avLst/>
          </a:prstGeom>
          <a:noFill/>
          <a:ln>
            <a:noFill/>
          </a:ln>
        </p:spPr>
        <p:txBody>
          <a:bodyPr wrap="square">
            <a:spAutoFit/>
          </a:bodyPr>
          <a:lstStyle/>
          <a:p>
            <a:pPr marL="228600" indent="0">
              <a:buFont typeface="Arial" panose="020B0604020202020204" pitchFamily="34" charset="0"/>
              <a:buNone/>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b="1" kern="100" dirty="0">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i</a:t>
            </a:r>
            <a:r>
              <a:rPr lang="pt-BR" kern="100" dirty="0">
                <a:effectLst/>
                <a:latin typeface="Poppins" panose="00000500000000000000" pitchFamily="2" charset="0"/>
                <a:ea typeface="Aptos" panose="020B0004020202020204" pitchFamily="34" charset="0"/>
                <a:cs typeface="Poppins" panose="00000500000000000000" pitchFamily="2" charset="0"/>
              </a:rPr>
              <a:t>ncentive os alunos a seguirem o material de apoio e pesquisarem as soluções, pois deverão adicionar a funcionalidade de remover uma tarefa.</a:t>
            </a:r>
            <a:endParaRPr lang="pt-BR" b="0" dirty="0">
              <a:effectLst/>
              <a:latin typeface="Poppins" panose="00000500000000000000" pitchFamily="2" charset="0"/>
              <a:ea typeface="Aptos" panose="020B0004020202020204" pitchFamily="34" charset="0"/>
              <a:cs typeface="Poppins" panose="00000500000000000000" pitchFamily="2" charset="0"/>
            </a:endParaRPr>
          </a:p>
        </p:txBody>
      </p:sp>
      <p:sp>
        <p:nvSpPr>
          <p:cNvPr id="18" name="CaixaDeTexto 17">
            <a:extLst>
              <a:ext uri="{FF2B5EF4-FFF2-40B4-BE49-F238E27FC236}">
                <a16:creationId xmlns:a16="http://schemas.microsoft.com/office/drawing/2014/main" id="{AAEC7675-2C1D-DF62-5202-1400256875C0}"/>
              </a:ext>
            </a:extLst>
          </p:cNvPr>
          <p:cNvSpPr txBox="1"/>
          <p:nvPr/>
        </p:nvSpPr>
        <p:spPr>
          <a:xfrm>
            <a:off x="1478280" y="6056308"/>
            <a:ext cx="16105238" cy="1169551"/>
          </a:xfrm>
          <a:prstGeom prst="rect">
            <a:avLst/>
          </a:prstGeom>
          <a:noFill/>
          <a:ln>
            <a:noFill/>
          </a:ln>
        </p:spPr>
        <p:txBody>
          <a:bodyPr wrap="square">
            <a:spAutoFit/>
          </a:bodyPr>
          <a:lstStyle/>
          <a:p>
            <a:r>
              <a:rPr lang="pt-BR" b="1"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dirty="0">
                <a:latin typeface="Poppins" panose="00000500000000000000" pitchFamily="2" charset="0"/>
                <a:ea typeface="Aptos" panose="020B0004020202020204" pitchFamily="34" charset="0"/>
                <a:cs typeface="Poppins" panose="00000500000000000000" pitchFamily="2" charset="0"/>
              </a:rPr>
              <a:t> </a:t>
            </a:r>
            <a:r>
              <a:rPr lang="pt-BR" b="0" u="none" dirty="0">
                <a:effectLst/>
                <a:latin typeface="Poppins" panose="00000500000000000000" pitchFamily="2" charset="0"/>
                <a:ea typeface="Aptos" panose="020B0004020202020204" pitchFamily="34" charset="0"/>
                <a:cs typeface="Poppins" panose="00000500000000000000" pitchFamily="2" charset="0"/>
              </a:rPr>
              <a:t>um relatório com cópias de tela do site com alguma melhoria, por exemplo, transição e uma animação na exibição das fotos.</a:t>
            </a:r>
          </a:p>
          <a:p>
            <a:r>
              <a:rPr lang="pt-BR" b="0" u="none" dirty="0">
                <a:effectLst/>
                <a:latin typeface="Poppins" panose="00000500000000000000" pitchFamily="2" charset="0"/>
                <a:ea typeface="Aptos" panose="020B0004020202020204" pitchFamily="34" charset="0"/>
                <a:cs typeface="Poppins" panose="00000500000000000000" pitchFamily="2" charset="0"/>
              </a:rPr>
              <a:t>Animações CSS devem ser implementadas no arquivo style.css, que é onde você está definindo todos os estilos e animações da página.</a:t>
            </a:r>
          </a:p>
          <a:p>
            <a:r>
              <a:rPr lang="pt-BR" b="0" u="none" dirty="0">
                <a:effectLst/>
                <a:latin typeface="Poppins" panose="00000500000000000000" pitchFamily="2" charset="0"/>
                <a:ea typeface="Aptos" panose="020B0004020202020204" pitchFamily="34" charset="0"/>
                <a:cs typeface="Poppins" panose="00000500000000000000" pitchFamily="2" charset="0"/>
              </a:rPr>
              <a:t>Esse arquivo é responsável por controlar a aparência visual dos elementos HTML, e é aqui que você aplicará as animações e transições usando @keyframes e transições do CSS.</a:t>
            </a:r>
          </a:p>
          <a:p>
            <a:endParaRPr lang="pt-BR" b="0" u="none" dirty="0">
              <a:effectLst/>
              <a:latin typeface="Poppins" panose="00000500000000000000" pitchFamily="2" charset="0"/>
              <a:ea typeface="Aptos" panose="020B0004020202020204" pitchFamily="34" charset="0"/>
              <a:cs typeface="Poppins" panose="00000500000000000000" pitchFamily="2" charset="0"/>
            </a:endParaRPr>
          </a:p>
          <a:p>
            <a:endParaRPr lang="pt-BR" dirty="0">
              <a:latin typeface="Poppins" panose="00000500000000000000" pitchFamily="2" charset="0"/>
              <a:cs typeface="Poppins" panose="00000500000000000000" pitchFamily="2" charset="0"/>
            </a:endParaRPr>
          </a:p>
        </p:txBody>
      </p:sp>
      <p:sp>
        <p:nvSpPr>
          <p:cNvPr id="19" name="Oval 9">
            <a:extLst>
              <a:ext uri="{FF2B5EF4-FFF2-40B4-BE49-F238E27FC236}">
                <a16:creationId xmlns:a16="http://schemas.microsoft.com/office/drawing/2014/main" id="{EC6CDE31-6595-042C-3414-6D1DF496C9E4}"/>
              </a:ext>
            </a:extLst>
          </p:cNvPr>
          <p:cNvSpPr/>
          <p:nvPr/>
        </p:nvSpPr>
        <p:spPr>
          <a:xfrm>
            <a:off x="599839" y="496977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3" name="Gráfico 22">
            <a:extLst>
              <a:ext uri="{FF2B5EF4-FFF2-40B4-BE49-F238E27FC236}">
                <a16:creationId xmlns:a16="http://schemas.microsoft.com/office/drawing/2014/main" id="{DF8B6513-B960-0AC8-73F4-DC2BC77C54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6538" y="5075452"/>
            <a:ext cx="352944" cy="360965"/>
          </a:xfrm>
          <a:prstGeom prst="rect">
            <a:avLst/>
          </a:prstGeom>
        </p:spPr>
      </p:pic>
      <p:pic>
        <p:nvPicPr>
          <p:cNvPr id="6" name="Imagem 5">
            <a:extLst>
              <a:ext uri="{FF2B5EF4-FFF2-40B4-BE49-F238E27FC236}">
                <a16:creationId xmlns:a16="http://schemas.microsoft.com/office/drawing/2014/main" id="{96BF9CE6-BF52-9051-F54C-F133DE85E327}"/>
              </a:ext>
            </a:extLst>
          </p:cNvPr>
          <p:cNvPicPr>
            <a:picLocks noChangeAspect="1"/>
          </p:cNvPicPr>
          <p:nvPr/>
        </p:nvPicPr>
        <p:blipFill>
          <a:blip r:embed="rId6"/>
          <a:stretch>
            <a:fillRect/>
          </a:stretch>
        </p:blipFill>
        <p:spPr>
          <a:xfrm>
            <a:off x="11198981" y="8762819"/>
            <a:ext cx="2616200" cy="609600"/>
          </a:xfrm>
          <a:prstGeom prst="rect">
            <a:avLst/>
          </a:prstGeom>
        </p:spPr>
      </p:pic>
      <p:grpSp>
        <p:nvGrpSpPr>
          <p:cNvPr id="12" name="Gráfico 85">
            <a:extLst>
              <a:ext uri="{FF2B5EF4-FFF2-40B4-BE49-F238E27FC236}">
                <a16:creationId xmlns:a16="http://schemas.microsoft.com/office/drawing/2014/main" id="{EDCC1AE5-99D3-718C-225A-3A36839901BE}"/>
              </a:ext>
            </a:extLst>
          </p:cNvPr>
          <p:cNvGrpSpPr/>
          <p:nvPr/>
        </p:nvGrpSpPr>
        <p:grpSpPr>
          <a:xfrm>
            <a:off x="11549419" y="8889189"/>
            <a:ext cx="1758662" cy="298605"/>
            <a:chOff x="2316209" y="1866988"/>
            <a:chExt cx="1758662" cy="298605"/>
          </a:xfrm>
          <a:solidFill>
            <a:srgbClr val="FFFFFF"/>
          </a:solidFill>
        </p:grpSpPr>
        <p:sp>
          <p:nvSpPr>
            <p:cNvPr id="15" name="Forma Livre 150">
              <a:extLst>
                <a:ext uri="{FF2B5EF4-FFF2-40B4-BE49-F238E27FC236}">
                  <a16:creationId xmlns:a16="http://schemas.microsoft.com/office/drawing/2014/main" id="{FE3D7F60-AE3D-7A08-51F2-CD9877FC1672}"/>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7" name="Forma Livre 151">
              <a:extLst>
                <a:ext uri="{FF2B5EF4-FFF2-40B4-BE49-F238E27FC236}">
                  <a16:creationId xmlns:a16="http://schemas.microsoft.com/office/drawing/2014/main" id="{40C8EC6C-B75F-4CF3-8028-01F571E19781}"/>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24" name="Forma Livre 152">
              <a:extLst>
                <a:ext uri="{FF2B5EF4-FFF2-40B4-BE49-F238E27FC236}">
                  <a16:creationId xmlns:a16="http://schemas.microsoft.com/office/drawing/2014/main" id="{1242A966-90BA-89A2-9175-3F816586C6CE}"/>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25" name="Forma Livre 153">
              <a:extLst>
                <a:ext uri="{FF2B5EF4-FFF2-40B4-BE49-F238E27FC236}">
                  <a16:creationId xmlns:a16="http://schemas.microsoft.com/office/drawing/2014/main" id="{151CE51E-1991-2DE1-473E-0BBEE03656E1}"/>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26" name="Forma Livre 154">
              <a:extLst>
                <a:ext uri="{FF2B5EF4-FFF2-40B4-BE49-F238E27FC236}">
                  <a16:creationId xmlns:a16="http://schemas.microsoft.com/office/drawing/2014/main" id="{D5087C47-8C79-DB23-E559-C0AD7BBF0E78}"/>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27" name="Forma Livre 155">
              <a:extLst>
                <a:ext uri="{FF2B5EF4-FFF2-40B4-BE49-F238E27FC236}">
                  <a16:creationId xmlns:a16="http://schemas.microsoft.com/office/drawing/2014/main" id="{21D0649C-8731-1916-C88E-A91ECA6CDA83}"/>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28" name="Forma Livre 156">
              <a:extLst>
                <a:ext uri="{FF2B5EF4-FFF2-40B4-BE49-F238E27FC236}">
                  <a16:creationId xmlns:a16="http://schemas.microsoft.com/office/drawing/2014/main" id="{7A3BF8D1-0331-0CCE-CA5E-94B618F2542F}"/>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29" name="Forma Livre 157">
              <a:extLst>
                <a:ext uri="{FF2B5EF4-FFF2-40B4-BE49-F238E27FC236}">
                  <a16:creationId xmlns:a16="http://schemas.microsoft.com/office/drawing/2014/main" id="{09BB7F6A-9142-67A6-7845-9DB49B714295}"/>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1815820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1B18E2-0FEC-772B-9180-8A1F9E5644A4}"/>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875C137-FF0D-18BC-624D-18B8C7FBBD5C}"/>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788DE408-052F-16F1-2D12-2BDEB17A4610}"/>
              </a:ext>
            </a:extLst>
          </p:cNvPr>
          <p:cNvCxnSpPr>
            <a:cxnSpLocks/>
          </p:cNvCxnSpPr>
          <p:nvPr/>
        </p:nvCxnSpPr>
        <p:spPr>
          <a:xfrm flipV="1">
            <a:off x="868312" y="158973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0EBFEB26-E177-F207-3C68-3AE19A93442A}"/>
              </a:ext>
            </a:extLst>
          </p:cNvPr>
          <p:cNvSpPr txBox="1"/>
          <p:nvPr/>
        </p:nvSpPr>
        <p:spPr>
          <a:xfrm>
            <a:off x="1478280" y="2146575"/>
            <a:ext cx="15377160" cy="590931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dirty="0">
                <a:latin typeface="Poppins" panose="00000500000000000000" pitchFamily="2" charset="0"/>
                <a:cs typeface="Poppins" panose="00000500000000000000" pitchFamily="2" charset="0"/>
              </a:rPr>
              <a:t>Exemplo de como ficaria no style.css:</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 Animação para o título */</a:t>
            </a:r>
          </a:p>
          <a:p>
            <a:pPr>
              <a:buClrTx/>
              <a:defRPr/>
            </a:pPr>
            <a:r>
              <a:rPr lang="pt-BR" dirty="0">
                <a:latin typeface="Poppins" panose="00000500000000000000" pitchFamily="2" charset="0"/>
                <a:cs typeface="Poppins" panose="00000500000000000000" pitchFamily="2" charset="0"/>
              </a:rPr>
              <a:t>h1 {</a:t>
            </a:r>
          </a:p>
          <a:p>
            <a:pPr>
              <a:buClrTx/>
              <a:defRPr/>
            </a:pPr>
            <a:r>
              <a:rPr lang="pt-BR" dirty="0">
                <a:latin typeface="Poppins" panose="00000500000000000000" pitchFamily="2" charset="0"/>
                <a:cs typeface="Poppins" panose="00000500000000000000" pitchFamily="2" charset="0"/>
              </a:rPr>
              <a:t>    animation: slideIn 2s ease-out;</a:t>
            </a:r>
          </a:p>
          <a:p>
            <a:pPr>
              <a:buClrTx/>
              <a:defRPr/>
            </a:pP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@keyframes slideIn {</a:t>
            </a:r>
          </a:p>
          <a:p>
            <a:pPr>
              <a:buClrTx/>
              <a:defRPr/>
            </a:pPr>
            <a:r>
              <a:rPr lang="pt-BR" dirty="0">
                <a:latin typeface="Poppins" panose="00000500000000000000" pitchFamily="2" charset="0"/>
                <a:cs typeface="Poppins" panose="00000500000000000000" pitchFamily="2" charset="0"/>
              </a:rPr>
              <a:t>    from {</a:t>
            </a:r>
          </a:p>
          <a:p>
            <a:pPr>
              <a:buClrTx/>
              <a:defRPr/>
            </a:pPr>
            <a:r>
              <a:rPr lang="pt-BR" dirty="0">
                <a:latin typeface="Poppins" panose="00000500000000000000" pitchFamily="2" charset="0"/>
                <a:cs typeface="Poppins" panose="00000500000000000000" pitchFamily="2" charset="0"/>
              </a:rPr>
              <a:t>        transform: translateX(-100%);</a:t>
            </a:r>
          </a:p>
          <a:p>
            <a:pPr>
              <a:buClrTx/>
              <a:defRPr/>
            </a:pPr>
            <a:r>
              <a:rPr lang="pt-BR" dirty="0">
                <a:latin typeface="Poppins" panose="00000500000000000000" pitchFamily="2" charset="0"/>
                <a:cs typeface="Poppins" panose="00000500000000000000" pitchFamily="2" charset="0"/>
              </a:rPr>
              <a:t>        opacity: 0;</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to {</a:t>
            </a:r>
          </a:p>
          <a:p>
            <a:pPr>
              <a:buClrTx/>
              <a:defRPr/>
            </a:pPr>
            <a:r>
              <a:rPr lang="pt-BR" dirty="0">
                <a:latin typeface="Poppins" panose="00000500000000000000" pitchFamily="2" charset="0"/>
                <a:cs typeface="Poppins" panose="00000500000000000000" pitchFamily="2" charset="0"/>
              </a:rPr>
              <a:t>        transform: translateX(0);</a:t>
            </a:r>
          </a:p>
          <a:p>
            <a:pPr>
              <a:buClrTx/>
              <a:defRPr/>
            </a:pPr>
            <a:r>
              <a:rPr lang="pt-BR" dirty="0">
                <a:latin typeface="Poppins" panose="00000500000000000000" pitchFamily="2" charset="0"/>
                <a:cs typeface="Poppins" panose="00000500000000000000" pitchFamily="2" charset="0"/>
              </a:rPr>
              <a:t>        opacity: 1;</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 Animação das imagens da galeria */</a:t>
            </a:r>
          </a:p>
          <a:p>
            <a:pPr>
              <a:buClrTx/>
              <a:defRPr/>
            </a:pPr>
            <a:r>
              <a:rPr lang="pt-BR" dirty="0">
                <a:latin typeface="Poppins" panose="00000500000000000000" pitchFamily="2" charset="0"/>
                <a:cs typeface="Poppins" panose="00000500000000000000" pitchFamily="2" charset="0"/>
              </a:rPr>
              <a:t>.image {</a:t>
            </a:r>
          </a:p>
          <a:p>
            <a:pPr>
              <a:buClrTx/>
              <a:defRPr/>
            </a:pPr>
            <a:r>
              <a:rPr lang="pt-BR" dirty="0">
                <a:latin typeface="Poppins" panose="00000500000000000000" pitchFamily="2" charset="0"/>
                <a:cs typeface="Poppins" panose="00000500000000000000" pitchFamily="2" charset="0"/>
              </a:rPr>
              <a:t>    animation: fadeIn 1s ease-out forwards;</a:t>
            </a:r>
          </a:p>
          <a:p>
            <a:pPr>
              <a:buClrTx/>
              <a:defRPr/>
            </a:pP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@keyframes fadeIn {</a:t>
            </a:r>
          </a:p>
          <a:p>
            <a:pPr>
              <a:buClrTx/>
              <a:defRPr/>
            </a:pPr>
            <a:r>
              <a:rPr lang="pt-BR" dirty="0">
                <a:latin typeface="Poppins" panose="00000500000000000000" pitchFamily="2" charset="0"/>
                <a:cs typeface="Poppins" panose="00000500000000000000" pitchFamily="2" charset="0"/>
              </a:rPr>
              <a:t>    from {</a:t>
            </a:r>
          </a:p>
          <a:p>
            <a:pPr>
              <a:buClrTx/>
              <a:defRPr/>
            </a:pPr>
            <a:r>
              <a:rPr lang="pt-BR" dirty="0">
                <a:latin typeface="Poppins" panose="00000500000000000000" pitchFamily="2" charset="0"/>
                <a:cs typeface="Poppins" panose="00000500000000000000" pitchFamily="2" charset="0"/>
              </a:rPr>
              <a:t>        transform: scale(0.5);</a:t>
            </a:r>
          </a:p>
          <a:p>
            <a:pPr>
              <a:buClrTx/>
              <a:defRPr/>
            </a:pPr>
            <a:r>
              <a:rPr lang="pt-BR" dirty="0">
                <a:latin typeface="Poppins" panose="00000500000000000000" pitchFamily="2" charset="0"/>
                <a:cs typeface="Poppins" panose="00000500000000000000" pitchFamily="2" charset="0"/>
              </a:rPr>
              <a:t>        opacity: 0;</a:t>
            </a:r>
          </a:p>
        </p:txBody>
      </p:sp>
      <p:sp>
        <p:nvSpPr>
          <p:cNvPr id="8" name="CaixaDeTexto 7">
            <a:extLst>
              <a:ext uri="{FF2B5EF4-FFF2-40B4-BE49-F238E27FC236}">
                <a16:creationId xmlns:a16="http://schemas.microsoft.com/office/drawing/2014/main" id="{CB483C26-2450-43D6-AC31-63BB698D7CC9}"/>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6" name="Oval 8">
            <a:extLst>
              <a:ext uri="{FF2B5EF4-FFF2-40B4-BE49-F238E27FC236}">
                <a16:creationId xmlns:a16="http://schemas.microsoft.com/office/drawing/2014/main" id="{CBCAC042-870E-06AB-3912-C99E126C7ABC}"/>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2" name="Gráfico 11">
            <a:extLst>
              <a:ext uri="{FF2B5EF4-FFF2-40B4-BE49-F238E27FC236}">
                <a16:creationId xmlns:a16="http://schemas.microsoft.com/office/drawing/2014/main" id="{33D55A45-B488-B853-F24F-3212D0DBAC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31A78608-3764-1307-6081-76946436AAF9}"/>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3" name="Gráfico 85">
            <a:extLst>
              <a:ext uri="{FF2B5EF4-FFF2-40B4-BE49-F238E27FC236}">
                <a16:creationId xmlns:a16="http://schemas.microsoft.com/office/drawing/2014/main" id="{0A3B536B-B365-0785-0547-CEF64DDD8E72}"/>
              </a:ext>
            </a:extLst>
          </p:cNvPr>
          <p:cNvGrpSpPr/>
          <p:nvPr/>
        </p:nvGrpSpPr>
        <p:grpSpPr>
          <a:xfrm>
            <a:off x="11549419" y="8889189"/>
            <a:ext cx="1758662" cy="298605"/>
            <a:chOff x="2316209" y="1866988"/>
            <a:chExt cx="1758662" cy="298605"/>
          </a:xfrm>
          <a:solidFill>
            <a:srgbClr val="FFFFFF"/>
          </a:solidFill>
        </p:grpSpPr>
        <p:sp>
          <p:nvSpPr>
            <p:cNvPr id="4" name="Forma Livre 150">
              <a:extLst>
                <a:ext uri="{FF2B5EF4-FFF2-40B4-BE49-F238E27FC236}">
                  <a16:creationId xmlns:a16="http://schemas.microsoft.com/office/drawing/2014/main" id="{4CF83ABA-343A-E8F3-9AE9-1D1A7FAFD502}"/>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9" name="Forma Livre 151">
              <a:extLst>
                <a:ext uri="{FF2B5EF4-FFF2-40B4-BE49-F238E27FC236}">
                  <a16:creationId xmlns:a16="http://schemas.microsoft.com/office/drawing/2014/main" id="{46B1CBB7-B9A0-7D5F-654C-472613A94D00}"/>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0" name="Forma Livre 152">
              <a:extLst>
                <a:ext uri="{FF2B5EF4-FFF2-40B4-BE49-F238E27FC236}">
                  <a16:creationId xmlns:a16="http://schemas.microsoft.com/office/drawing/2014/main" id="{1DB22C65-1E13-3A1B-19B8-69B69F6038B1}"/>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1" name="Forma Livre 153">
              <a:extLst>
                <a:ext uri="{FF2B5EF4-FFF2-40B4-BE49-F238E27FC236}">
                  <a16:creationId xmlns:a16="http://schemas.microsoft.com/office/drawing/2014/main" id="{DFCFF0E4-C0DE-6FE0-25C7-D0255343680D}"/>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916D0BB1-2872-5624-066D-8A740D5331DC}"/>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33137A2A-C5CF-E97B-030A-D34E8FE3A0F0}"/>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E184194A-61DE-038D-8F7F-046E91083FB3}"/>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7DD96384-2BA1-9A45-31F4-3D67680BDBDE}"/>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444244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407D68-8CE2-9530-D897-B501D4A06B0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3DE2E09E-AFCF-B3BD-689E-CD6E404E4233}"/>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17ACC6C7-D77E-8CFF-2242-BD2D3E8CBA0A}"/>
              </a:ext>
            </a:extLst>
          </p:cNvPr>
          <p:cNvCxnSpPr>
            <a:cxnSpLocks/>
          </p:cNvCxnSpPr>
          <p:nvPr/>
        </p:nvCxnSpPr>
        <p:spPr>
          <a:xfrm flipV="1">
            <a:off x="868312" y="166094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33E47360-0162-2049-E888-DCCE4D5D8DE1}"/>
              </a:ext>
            </a:extLst>
          </p:cNvPr>
          <p:cNvSpPr txBox="1"/>
          <p:nvPr/>
        </p:nvSpPr>
        <p:spPr>
          <a:xfrm>
            <a:off x="1478280" y="2146575"/>
            <a:ext cx="15377160" cy="590931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to {</a:t>
            </a:r>
          </a:p>
          <a:p>
            <a:pPr>
              <a:buClrTx/>
              <a:defRPr/>
            </a:pPr>
            <a:r>
              <a:rPr lang="pt-BR" dirty="0">
                <a:latin typeface="Poppins" panose="00000500000000000000" pitchFamily="2" charset="0"/>
                <a:cs typeface="Poppins" panose="00000500000000000000" pitchFamily="2" charset="0"/>
              </a:rPr>
              <a:t>        transform: scale(1);</a:t>
            </a:r>
          </a:p>
          <a:p>
            <a:pPr>
              <a:buClrTx/>
              <a:defRPr/>
            </a:pPr>
            <a:r>
              <a:rPr lang="pt-BR" dirty="0">
                <a:latin typeface="Poppins" panose="00000500000000000000" pitchFamily="2" charset="0"/>
                <a:cs typeface="Poppins" panose="00000500000000000000" pitchFamily="2" charset="0"/>
              </a:rPr>
              <a:t>        opacity: 1;</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No arquivo index.html, crie a estrutura básica de um site de portfólio com a seguinte estrutura de conteúdo:</a:t>
            </a:r>
          </a:p>
          <a:p>
            <a:pPr>
              <a:buClrTx/>
              <a:defRPr/>
            </a:pPr>
            <a:r>
              <a:rPr lang="pt-BR" dirty="0">
                <a:latin typeface="Poppins" panose="00000500000000000000" pitchFamily="2" charset="0"/>
                <a:cs typeface="Poppins" panose="00000500000000000000" pitchFamily="2" charset="0"/>
              </a:rPr>
              <a:t>&lt;!DOCTYPE html&gt;</a:t>
            </a:r>
          </a:p>
          <a:p>
            <a:pPr>
              <a:buClrTx/>
              <a:defRPr/>
            </a:pPr>
            <a:r>
              <a:rPr lang="pt-BR" dirty="0">
                <a:latin typeface="Poppins" panose="00000500000000000000" pitchFamily="2" charset="0"/>
                <a:cs typeface="Poppins" panose="00000500000000000000" pitchFamily="2" charset="0"/>
              </a:rPr>
              <a:t>&lt;html lang="en"&gt;</a:t>
            </a:r>
          </a:p>
          <a:p>
            <a:pPr>
              <a:buClrTx/>
              <a:defRPr/>
            </a:pPr>
            <a:r>
              <a:rPr lang="pt-BR" dirty="0">
                <a:latin typeface="Poppins" panose="00000500000000000000" pitchFamily="2" charset="0"/>
                <a:cs typeface="Poppins" panose="00000500000000000000" pitchFamily="2" charset="0"/>
              </a:rPr>
              <a:t>&lt;head&gt;</a:t>
            </a:r>
          </a:p>
          <a:p>
            <a:pPr>
              <a:buClrTx/>
              <a:defRPr/>
            </a:pPr>
            <a:r>
              <a:rPr lang="pt-BR" dirty="0">
                <a:latin typeface="Poppins" panose="00000500000000000000" pitchFamily="2" charset="0"/>
                <a:cs typeface="Poppins" panose="00000500000000000000" pitchFamily="2" charset="0"/>
              </a:rPr>
              <a:t>    &lt;meta charset="UTF-8"&gt;</a:t>
            </a:r>
          </a:p>
          <a:p>
            <a:pPr>
              <a:buClrTx/>
              <a:defRPr/>
            </a:pPr>
            <a:r>
              <a:rPr lang="pt-BR" dirty="0">
                <a:latin typeface="Poppins" panose="00000500000000000000" pitchFamily="2" charset="0"/>
                <a:cs typeface="Poppins" panose="00000500000000000000" pitchFamily="2" charset="0"/>
              </a:rPr>
              <a:t>    &lt;meta name="viewport" content="width=device-width, initial-scale=1.0"&gt;</a:t>
            </a:r>
          </a:p>
          <a:p>
            <a:pPr>
              <a:buClrTx/>
              <a:defRPr/>
            </a:pPr>
            <a:r>
              <a:rPr lang="pt-BR" dirty="0">
                <a:latin typeface="Poppins" panose="00000500000000000000" pitchFamily="2" charset="0"/>
                <a:cs typeface="Poppins" panose="00000500000000000000" pitchFamily="2" charset="0"/>
              </a:rPr>
              <a:t>    &lt;title&gt;Portfólio de Fotografia&lt;/title&gt;</a:t>
            </a:r>
          </a:p>
          <a:p>
            <a:pPr>
              <a:buClrTx/>
              <a:defRPr/>
            </a:pPr>
            <a:r>
              <a:rPr lang="pt-BR" dirty="0">
                <a:latin typeface="Poppins" panose="00000500000000000000" pitchFamily="2" charset="0"/>
                <a:cs typeface="Poppins" panose="00000500000000000000" pitchFamily="2" charset="0"/>
              </a:rPr>
              <a:t>    &lt;link rel="stylesheet" href="style.css"&gt;</a:t>
            </a:r>
          </a:p>
          <a:p>
            <a:pPr>
              <a:buClrTx/>
              <a:defRPr/>
            </a:pPr>
            <a:r>
              <a:rPr lang="pt-BR" dirty="0">
                <a:latin typeface="Poppins" panose="00000500000000000000" pitchFamily="2" charset="0"/>
                <a:cs typeface="Poppins" panose="00000500000000000000" pitchFamily="2" charset="0"/>
              </a:rPr>
              <a:t>&lt;/head&gt;</a:t>
            </a:r>
          </a:p>
          <a:p>
            <a:pPr>
              <a:buClrTx/>
              <a:defRPr/>
            </a:pPr>
            <a:r>
              <a:rPr lang="pt-BR" dirty="0">
                <a:latin typeface="Poppins" panose="00000500000000000000" pitchFamily="2" charset="0"/>
                <a:cs typeface="Poppins" panose="00000500000000000000" pitchFamily="2" charset="0"/>
              </a:rPr>
              <a:t>&lt;body&gt;</a:t>
            </a:r>
          </a:p>
          <a:p>
            <a:pPr>
              <a:buClrTx/>
              <a:defRPr/>
            </a:pPr>
            <a:r>
              <a:rPr lang="pt-BR" dirty="0">
                <a:latin typeface="Poppins" panose="00000500000000000000" pitchFamily="2" charset="0"/>
                <a:cs typeface="Poppins" panose="00000500000000000000" pitchFamily="2" charset="0"/>
              </a:rPr>
              <a:t>    &lt;header&gt;</a:t>
            </a:r>
          </a:p>
          <a:p>
            <a:pPr>
              <a:buClrTx/>
              <a:defRPr/>
            </a:pPr>
            <a:r>
              <a:rPr lang="pt-BR" dirty="0">
                <a:latin typeface="Poppins" panose="00000500000000000000" pitchFamily="2" charset="0"/>
                <a:cs typeface="Poppins" panose="00000500000000000000" pitchFamily="2" charset="0"/>
              </a:rPr>
              <a:t>        &lt;h1&gt;Portfólio de Fotografia&lt;/h1&gt;</a:t>
            </a:r>
          </a:p>
          <a:p>
            <a:pPr>
              <a:buClrTx/>
              <a:defRPr/>
            </a:pPr>
            <a:r>
              <a:rPr lang="pt-BR" dirty="0">
                <a:latin typeface="Poppins" panose="00000500000000000000" pitchFamily="2" charset="0"/>
                <a:cs typeface="Poppins" panose="00000500000000000000" pitchFamily="2" charset="0"/>
              </a:rPr>
              <a:t>        &lt;nav&gt;</a:t>
            </a:r>
          </a:p>
          <a:p>
            <a:pPr>
              <a:buClrTx/>
              <a:defRPr/>
            </a:pPr>
            <a:r>
              <a:rPr lang="pt-BR" dirty="0">
                <a:latin typeface="Poppins" panose="00000500000000000000" pitchFamily="2" charset="0"/>
                <a:cs typeface="Poppins" panose="00000500000000000000" pitchFamily="2" charset="0"/>
              </a:rPr>
              <a:t>            &lt;ul&gt;</a:t>
            </a:r>
          </a:p>
          <a:p>
            <a:pPr>
              <a:buClrTx/>
              <a:defRPr/>
            </a:pPr>
            <a:r>
              <a:rPr lang="pt-BR" dirty="0">
                <a:latin typeface="Poppins" panose="00000500000000000000" pitchFamily="2" charset="0"/>
                <a:cs typeface="Poppins" panose="00000500000000000000" pitchFamily="2" charset="0"/>
              </a:rPr>
              <a:t>                &lt;li&gt;&lt;a href="#"&gt;Início&lt;/a&gt;&lt;/li&gt;</a:t>
            </a:r>
          </a:p>
          <a:p>
            <a:pPr>
              <a:buClrTx/>
              <a:defRPr/>
            </a:pPr>
            <a:r>
              <a:rPr lang="pt-BR" dirty="0">
                <a:latin typeface="Poppins" panose="00000500000000000000" pitchFamily="2" charset="0"/>
                <a:cs typeface="Poppins" panose="00000500000000000000" pitchFamily="2" charset="0"/>
              </a:rPr>
              <a:t>                &lt;li&gt;&lt;a href="#"&gt;Galeria&lt;/a&gt;&lt;/li&gt;</a:t>
            </a:r>
          </a:p>
          <a:p>
            <a:pPr>
              <a:buClrTx/>
              <a:defRPr/>
            </a:pPr>
            <a:r>
              <a:rPr lang="pt-BR" dirty="0">
                <a:latin typeface="Poppins" panose="00000500000000000000" pitchFamily="2" charset="0"/>
                <a:cs typeface="Poppins" panose="00000500000000000000" pitchFamily="2" charset="0"/>
              </a:rPr>
              <a:t>                &lt;li&gt;&lt;a href="#"&gt;Sobre&lt;/a&gt;&lt;/li&gt;</a:t>
            </a:r>
          </a:p>
          <a:p>
            <a:pPr>
              <a:buClrTx/>
              <a:defRPr/>
            </a:pPr>
            <a:r>
              <a:rPr lang="pt-BR" dirty="0">
                <a:latin typeface="Poppins" panose="00000500000000000000" pitchFamily="2" charset="0"/>
                <a:cs typeface="Poppins" panose="00000500000000000000" pitchFamily="2" charset="0"/>
              </a:rPr>
              <a:t>                &lt;li&gt;&lt;a href="#"&gt;Contato&lt;/a&gt;&lt;/li&gt;</a:t>
            </a:r>
          </a:p>
          <a:p>
            <a:pPr>
              <a:buClrTx/>
              <a:defRPr/>
            </a:pPr>
            <a:r>
              <a:rPr lang="pt-BR" dirty="0">
                <a:latin typeface="Poppins" panose="00000500000000000000" pitchFamily="2" charset="0"/>
                <a:cs typeface="Poppins" panose="00000500000000000000" pitchFamily="2" charset="0"/>
              </a:rPr>
              <a:t>            &lt;/ul&gt;</a:t>
            </a:r>
          </a:p>
          <a:p>
            <a:pPr>
              <a:buClrTx/>
              <a:defRPr/>
            </a:pPr>
            <a:r>
              <a:rPr lang="pt-BR" dirty="0">
                <a:latin typeface="Poppins" panose="00000500000000000000" pitchFamily="2" charset="0"/>
                <a:cs typeface="Poppins" panose="00000500000000000000" pitchFamily="2" charset="0"/>
              </a:rPr>
              <a:t>        &lt;/nav&gt;</a:t>
            </a:r>
          </a:p>
          <a:p>
            <a:pPr>
              <a:buClrTx/>
              <a:defRPr/>
            </a:pPr>
            <a:endParaRPr lang="pt-BR"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2569D63C-8E89-4C86-83E8-80F0A86F9374}"/>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2C34F25B-D922-C97C-7B80-2CFEBCBC1F8F}"/>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D9D844DF-6AB3-7DED-E5AB-106484D487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2E8A5022-F901-1115-DFDB-46E28FA6777C}"/>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9E4FAA72-5BD2-D632-13BB-AB25C36C112B}"/>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8F697261-3820-F3C0-D39E-97400359474F}"/>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18B69DAC-C84E-50B1-5A95-DAF3D5230B0C}"/>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82CD24BF-605B-0FC0-18E6-B0B0490ADDE9}"/>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001C9937-CD59-B369-71D8-C476E7237DCD}"/>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5AFF9E9A-90AD-77C5-2A28-AEAB3A688DF1}"/>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A85C7D51-F811-C893-854E-994E30F53E8E}"/>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BE100E08-4F17-B9BB-A6A9-B880B9AEBAF4}"/>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68AB3701-033C-70F7-8A3C-2B3B71B8097C}"/>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501744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B890CC-72F1-142C-6BC7-7A897A90E280}"/>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4EAA6627-7451-8D05-4E4B-71AA4F477AF2}"/>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DF2B69AA-1D63-52F1-EDA9-E6A95FB81F14}"/>
              </a:ext>
            </a:extLst>
          </p:cNvPr>
          <p:cNvCxnSpPr>
            <a:cxnSpLocks/>
          </p:cNvCxnSpPr>
          <p:nvPr/>
        </p:nvCxnSpPr>
        <p:spPr>
          <a:xfrm flipV="1">
            <a:off x="868312" y="161555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E18B3E7E-6771-4849-A9D4-AC1056134581}"/>
              </a:ext>
            </a:extLst>
          </p:cNvPr>
          <p:cNvSpPr txBox="1"/>
          <p:nvPr/>
        </p:nvSpPr>
        <p:spPr>
          <a:xfrm>
            <a:off x="1478280" y="2146575"/>
            <a:ext cx="15377160" cy="5262979"/>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dirty="0">
                <a:latin typeface="Poppins" panose="00000500000000000000" pitchFamily="2" charset="0"/>
                <a:cs typeface="Poppins" panose="00000500000000000000" pitchFamily="2" charset="0"/>
              </a:rPr>
              <a:t> &lt;/header&gt;</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&lt;section class="gallery"&gt;</a:t>
            </a:r>
          </a:p>
          <a:p>
            <a:pPr>
              <a:buClrTx/>
              <a:defRPr/>
            </a:pPr>
            <a:r>
              <a:rPr lang="pt-BR" dirty="0">
                <a:latin typeface="Poppins" panose="00000500000000000000" pitchFamily="2" charset="0"/>
                <a:cs typeface="Poppins" panose="00000500000000000000" pitchFamily="2" charset="0"/>
              </a:rPr>
              <a:t>        &lt;div class="image" id="image1"&gt;&lt;/div&gt;</a:t>
            </a:r>
          </a:p>
          <a:p>
            <a:pPr>
              <a:buClrTx/>
              <a:defRPr/>
            </a:pPr>
            <a:r>
              <a:rPr lang="pt-BR" dirty="0">
                <a:latin typeface="Poppins" panose="00000500000000000000" pitchFamily="2" charset="0"/>
                <a:cs typeface="Poppins" panose="00000500000000000000" pitchFamily="2" charset="0"/>
              </a:rPr>
              <a:t>        &lt;div class="image" id="image2"&gt;&lt;/div&gt;</a:t>
            </a:r>
          </a:p>
          <a:p>
            <a:pPr>
              <a:buClrTx/>
              <a:defRPr/>
            </a:pPr>
            <a:r>
              <a:rPr lang="pt-BR" dirty="0">
                <a:latin typeface="Poppins" panose="00000500000000000000" pitchFamily="2" charset="0"/>
                <a:cs typeface="Poppins" panose="00000500000000000000" pitchFamily="2" charset="0"/>
              </a:rPr>
              <a:t>        &lt;div class="image" id="image3"&gt;&lt;/div&gt;</a:t>
            </a:r>
          </a:p>
          <a:p>
            <a:pPr>
              <a:buClrTx/>
              <a:defRPr/>
            </a:pPr>
            <a:r>
              <a:rPr lang="pt-BR" dirty="0">
                <a:latin typeface="Poppins" panose="00000500000000000000" pitchFamily="2" charset="0"/>
                <a:cs typeface="Poppins" panose="00000500000000000000" pitchFamily="2" charset="0"/>
              </a:rPr>
              <a:t>    &lt;/section&gt;</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&lt;footer&gt;</a:t>
            </a:r>
          </a:p>
          <a:p>
            <a:pPr>
              <a:buClrTx/>
              <a:defRPr/>
            </a:pPr>
            <a:r>
              <a:rPr lang="pt-BR" dirty="0">
                <a:latin typeface="Poppins" panose="00000500000000000000" pitchFamily="2" charset="0"/>
                <a:cs typeface="Poppins" panose="00000500000000000000" pitchFamily="2" charset="0"/>
              </a:rPr>
              <a:t>        &lt;p&gt;&amp;copy; 2025 Portfólio de Fotografia&lt;/p&gt;</a:t>
            </a:r>
          </a:p>
          <a:p>
            <a:pPr>
              <a:buClrTx/>
              <a:defRPr/>
            </a:pPr>
            <a:r>
              <a:rPr lang="pt-BR" dirty="0">
                <a:latin typeface="Poppins" panose="00000500000000000000" pitchFamily="2" charset="0"/>
                <a:cs typeface="Poppins" panose="00000500000000000000" pitchFamily="2" charset="0"/>
              </a:rPr>
              <a:t>    &lt;/footer&gt;</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&lt;script src="script.js"&gt;&lt;/script&gt;</a:t>
            </a:r>
          </a:p>
          <a:p>
            <a:pPr>
              <a:buClrTx/>
              <a:defRPr/>
            </a:pPr>
            <a:r>
              <a:rPr lang="pt-BR" dirty="0">
                <a:latin typeface="Poppins" panose="00000500000000000000" pitchFamily="2" charset="0"/>
                <a:cs typeface="Poppins" panose="00000500000000000000" pitchFamily="2" charset="0"/>
              </a:rPr>
              <a:t>&lt;/body&gt;</a:t>
            </a:r>
          </a:p>
          <a:p>
            <a:pPr>
              <a:buClrTx/>
              <a:defRPr/>
            </a:pPr>
            <a:r>
              <a:rPr lang="pt-BR" dirty="0">
                <a:latin typeface="Poppins" panose="00000500000000000000" pitchFamily="2" charset="0"/>
                <a:cs typeface="Poppins" panose="00000500000000000000" pitchFamily="2" charset="0"/>
              </a:rPr>
              <a:t>&lt;/html&gt;</a:t>
            </a:r>
          </a:p>
          <a:p>
            <a:pPr>
              <a:buClrTx/>
              <a:defRPr/>
            </a:pPr>
            <a:r>
              <a:rPr lang="pt-BR" dirty="0">
                <a:latin typeface="Poppins" panose="00000500000000000000" pitchFamily="2" charset="0"/>
                <a:cs typeface="Poppins" panose="00000500000000000000" pitchFamily="2" charset="0"/>
              </a:rPr>
              <a:t>No arquivo script.js, crie uma interação em JavaScript que altere o fundo de uma imagem quando se clica nela.</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document.querySelectorAll('.image').forEach(image =&gt; {</a:t>
            </a:r>
          </a:p>
          <a:p>
            <a:pPr>
              <a:buClrTx/>
              <a:defRPr/>
            </a:pPr>
            <a:r>
              <a:rPr lang="pt-BR" dirty="0">
                <a:latin typeface="Poppins" panose="00000500000000000000" pitchFamily="2" charset="0"/>
                <a:cs typeface="Poppins" panose="00000500000000000000" pitchFamily="2" charset="0"/>
              </a:rPr>
              <a:t>    image.addEventListener('click', () =&gt; {</a:t>
            </a:r>
          </a:p>
          <a:p>
            <a:pPr>
              <a:buClrTx/>
              <a:defRPr/>
            </a:pPr>
            <a:r>
              <a:rPr lang="pt-BR" dirty="0">
                <a:latin typeface="Poppins" panose="00000500000000000000" pitchFamily="2" charset="0"/>
                <a:cs typeface="Poppins" panose="00000500000000000000" pitchFamily="2" charset="0"/>
              </a:rPr>
              <a:t>        // Alterna a cor de fundo da imagem clicada</a:t>
            </a:r>
          </a:p>
          <a:p>
            <a:pPr>
              <a:buClrTx/>
              <a:defRPr/>
            </a:pPr>
            <a:r>
              <a:rPr lang="pt-BR" dirty="0">
                <a:latin typeface="Poppins" panose="00000500000000000000" pitchFamily="2" charset="0"/>
                <a:cs typeface="Poppins" panose="00000500000000000000" pitchFamily="2" charset="0"/>
              </a:rPr>
              <a:t>        image.style.backgroundColor = image.style.backgroundColor === 'rgb(255, 99, 71)' ? '#ddd' : 'rgb(255, 99, 71)';</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a:t>
            </a:r>
            <a:br>
              <a:rPr lang="pt-BR" dirty="0">
                <a:latin typeface="Poppins" panose="00000500000000000000" pitchFamily="2" charset="0"/>
                <a:cs typeface="Poppins" panose="00000500000000000000" pitchFamily="2" charset="0"/>
              </a:rPr>
            </a:br>
            <a:endParaRPr lang="pt-BR"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E80B18A6-D682-C491-E020-DAC09BCCCE07}"/>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083729B9-6899-9085-46B5-D0B6BDDCACAE}"/>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71B9A244-9271-0C65-AB63-5FA898BBEF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spTree>
    <p:extLst>
      <p:ext uri="{BB962C8B-B14F-4D97-AF65-F5344CB8AC3E}">
        <p14:creationId xmlns:p14="http://schemas.microsoft.com/office/powerpoint/2010/main" val="1919105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9A51D4-BDD0-D28B-7304-743DA61C9270}"/>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9D2B6BAE-D778-995F-1A0D-0DF061AA6A6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259118ED-2556-236B-EF45-AC1005CD9B13}"/>
              </a:ext>
            </a:extLst>
          </p:cNvPr>
          <p:cNvCxnSpPr>
            <a:cxnSpLocks/>
          </p:cNvCxnSpPr>
          <p:nvPr/>
        </p:nvCxnSpPr>
        <p:spPr>
          <a:xfrm flipV="1">
            <a:off x="868312" y="1631595"/>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CA72AD93-42C4-3A72-734C-A4AB4E25CA85}"/>
              </a:ext>
            </a:extLst>
          </p:cNvPr>
          <p:cNvSpPr txBox="1"/>
          <p:nvPr/>
        </p:nvSpPr>
        <p:spPr>
          <a:xfrm>
            <a:off x="1478280" y="2146575"/>
            <a:ext cx="15377160" cy="5786199"/>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buNone/>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Professor, a </a:t>
            </a:r>
            <a:r>
              <a:rPr lang="pt-BR"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seção O que nós aprendemos hoje?</a:t>
            </a: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28600">
              <a:spcAft>
                <a:spcPts val="600"/>
              </a:spcAft>
              <a:buNone/>
            </a:pPr>
            <a:r>
              <a:rPr lang="pt-BR" dirty="0">
                <a:effectLst/>
                <a:latin typeface="Poppins" panose="00000500000000000000" pitchFamily="2" charset="0"/>
                <a:ea typeface="Calibri" panose="020F0502020204030204" pitchFamily="34" charset="0"/>
                <a:cs typeface="Poppins" panose="00000500000000000000" pitchFamily="2" charset="0"/>
              </a:rPr>
              <a:t> </a:t>
            </a:r>
          </a:p>
          <a:p>
            <a:pPr>
              <a:spcAft>
                <a:spcPts val="600"/>
              </a:spcAft>
              <a:buNone/>
            </a:pPr>
            <a:r>
              <a:rPr lang="pt-BR"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Gestão de sala de aula</a:t>
            </a: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Mantenha um tom positivo e construtivo, reforçando o aprendizado em vez de focar em correções.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Seja direto e objetivo nas explicações para manter a atividade dentro do tempo estipulado.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Engaje os estudantes rapidamente, pedindo confirmações ou reações breves às definições apresentadas.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a:spcAft>
                <a:spcPts val="600"/>
              </a:spcAft>
              <a:buNone/>
            </a:pPr>
            <a:r>
              <a:rPr lang="pt-BR" dirty="0">
                <a:effectLst/>
                <a:latin typeface="Poppins" panose="00000500000000000000" pitchFamily="2" charset="0"/>
                <a:ea typeface="Calibri" panose="020F0502020204030204" pitchFamily="34" charset="0"/>
                <a:cs typeface="Poppins" panose="00000500000000000000" pitchFamily="2" charset="0"/>
              </a:rPr>
              <a:t> </a:t>
            </a:r>
          </a:p>
          <a:p>
            <a:pPr>
              <a:spcAft>
                <a:spcPts val="600"/>
              </a:spcAft>
              <a:buNone/>
            </a:pPr>
            <a:r>
              <a:rPr lang="pt-BR"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Condução da dinâmica</a:t>
            </a: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 2 minutos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Explique que esta parte da seção, “Então ficamos assim...”, é um momento de reflexão e esclarecimento sobre os conceitos abordados na aula.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Informe que será uma rápida revisão para assegurar que os entendimentos dos estudantes estão alinhados com as definições corretas dos conceitos.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Apresente o slide com a definição sintética de cada conceito principal discutido na aula, ampliando em forma de frases completas.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Para cada conceito, faça uma breve comparação com as palavras-chave citadas pelos estudantes na dinâmica de nuvem de palavras.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Destaque se as contribuições dos estudantes estavam alinhadas com o conceito e ofereça esclarecimentos rápidos caso haja discrepâncias ou mal-entendidos.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Finalize resumindo os pontos principais e reiterando a importância de cada conceito e como ele se encaixa no contexto maior da aula.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285750" indent="-285750">
              <a:spcAft>
                <a:spcPts val="600"/>
              </a:spcAft>
              <a:buFont typeface="Arial" panose="020B0604020202020204" pitchFamily="34" charset="0"/>
              <a:buChar char="•"/>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Reforce a ideia de que essa revisão ajuda a solidificar o entendimento dos estudantes e prepará-los para aplicar esses conceitos em situações práticas.</a:t>
            </a:r>
            <a:endParaRPr lang="pt-BR" dirty="0">
              <a:effectLst/>
              <a:latin typeface="Poppins" panose="00000500000000000000" pitchFamily="2" charset="0"/>
              <a:ea typeface="Calibri" panose="020F0502020204030204" pitchFamily="34" charset="0"/>
              <a:cs typeface="Poppins" panose="00000500000000000000" pitchFamily="2" charset="0"/>
            </a:endParaRPr>
          </a:p>
          <a:p>
            <a:pPr marL="457200">
              <a:spcAft>
                <a:spcPts val="600"/>
              </a:spcAft>
              <a:buNone/>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a:spcAft>
                <a:spcPts val="600"/>
              </a:spcAft>
              <a:buNone/>
            </a:pPr>
            <a:r>
              <a:rPr lang="pt-BR"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Expectativas de respostas</a:t>
            </a: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a:spcAft>
                <a:spcPts val="600"/>
              </a:spcAft>
              <a:buNone/>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Os estudantes devem sair da aula com um entendimento claro e preciso dos conceitos principais. </a:t>
            </a:r>
            <a:endParaRPr lang="pt-BR" dirty="0">
              <a:effectLst/>
              <a:latin typeface="Poppins" panose="00000500000000000000" pitchFamily="2" charset="0"/>
              <a:ea typeface="Calibri" panose="020F0502020204030204" pitchFamily="34" charset="0"/>
              <a:cs typeface="Poppins" panose="00000500000000000000" pitchFamily="2" charset="0"/>
            </a:endParaRPr>
          </a:p>
          <a:p>
            <a:pPr>
              <a:spcAft>
                <a:spcPts val="600"/>
              </a:spcAft>
              <a:buNone/>
            </a:pPr>
            <a:r>
              <a:rPr lang="pt-BR" dirty="0">
                <a:solidFill>
                  <a:srgbClr val="000000"/>
                </a:solidFill>
                <a:effectLst/>
                <a:latin typeface="Poppins" panose="00000500000000000000" pitchFamily="2" charset="0"/>
                <a:ea typeface="Calibri" panose="020F0502020204030204" pitchFamily="34" charset="0"/>
                <a:cs typeface="Poppins" panose="00000500000000000000" pitchFamily="2" charset="0"/>
              </a:rPr>
              <a:t>A atividade serve como uma verificação rápida do entendimento dos estudantes e uma oportunidade para corrigir quaisquer mal-entendidos.  </a:t>
            </a:r>
            <a:endParaRPr lang="pt-BR"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0F1D327D-E002-A074-5ECD-C7ABF9A41D3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17" name="Oval 12">
            <a:extLst>
              <a:ext uri="{FF2B5EF4-FFF2-40B4-BE49-F238E27FC236}">
                <a16:creationId xmlns:a16="http://schemas.microsoft.com/office/drawing/2014/main" id="{9CE8836A-6139-F45B-84B8-F44D4BA0514F}"/>
              </a:ext>
            </a:extLst>
          </p:cNvPr>
          <p:cNvSpPr/>
          <p:nvPr/>
        </p:nvSpPr>
        <p:spPr>
          <a:xfrm>
            <a:off x="594744"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8" name="Google Shape;2216;p100">
            <a:extLst>
              <a:ext uri="{FF2B5EF4-FFF2-40B4-BE49-F238E27FC236}">
                <a16:creationId xmlns:a16="http://schemas.microsoft.com/office/drawing/2014/main" id="{B22AE793-6B72-1A8C-3A4C-3FDFA18C4A74}"/>
              </a:ext>
            </a:extLst>
          </p:cNvPr>
          <p:cNvSpPr/>
          <p:nvPr/>
        </p:nvSpPr>
        <p:spPr>
          <a:xfrm>
            <a:off x="706377"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2" name="Oval 10">
            <a:extLst>
              <a:ext uri="{FF2B5EF4-FFF2-40B4-BE49-F238E27FC236}">
                <a16:creationId xmlns:a16="http://schemas.microsoft.com/office/drawing/2014/main" id="{FCEBBB1E-FE2C-423E-807F-0D8392BF34AE}"/>
              </a:ext>
            </a:extLst>
          </p:cNvPr>
          <p:cNvSpPr/>
          <p:nvPr/>
        </p:nvSpPr>
        <p:spPr>
          <a:xfrm>
            <a:off x="594744" y="294349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3" name="Google Shape;2223;p100">
            <a:extLst>
              <a:ext uri="{FF2B5EF4-FFF2-40B4-BE49-F238E27FC236}">
                <a16:creationId xmlns:a16="http://schemas.microsoft.com/office/drawing/2014/main" id="{551B130D-821D-C667-F233-48C2C3E37ED0}"/>
              </a:ext>
            </a:extLst>
          </p:cNvPr>
          <p:cNvSpPr>
            <a:spLocks/>
          </p:cNvSpPr>
          <p:nvPr/>
        </p:nvSpPr>
        <p:spPr>
          <a:xfrm>
            <a:off x="699994" y="3061140"/>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4" name="Oval 8">
            <a:extLst>
              <a:ext uri="{FF2B5EF4-FFF2-40B4-BE49-F238E27FC236}">
                <a16:creationId xmlns:a16="http://schemas.microsoft.com/office/drawing/2014/main" id="{8A6636F3-C892-0806-D5EB-C1C4ED7498DF}"/>
              </a:ext>
            </a:extLst>
          </p:cNvPr>
          <p:cNvSpPr/>
          <p:nvPr/>
        </p:nvSpPr>
        <p:spPr>
          <a:xfrm>
            <a:off x="594744" y="687006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5" name="Gráfico 24">
            <a:extLst>
              <a:ext uri="{FF2B5EF4-FFF2-40B4-BE49-F238E27FC236}">
                <a16:creationId xmlns:a16="http://schemas.microsoft.com/office/drawing/2014/main" id="{5C9F4EBD-ACC4-CB82-8514-C9535A74E2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284" y="6951243"/>
            <a:ext cx="312039" cy="400050"/>
          </a:xfrm>
          <a:prstGeom prst="rect">
            <a:avLst/>
          </a:prstGeom>
        </p:spPr>
      </p:pic>
      <p:sp>
        <p:nvSpPr>
          <p:cNvPr id="26" name="Oval 9">
            <a:extLst>
              <a:ext uri="{FF2B5EF4-FFF2-40B4-BE49-F238E27FC236}">
                <a16:creationId xmlns:a16="http://schemas.microsoft.com/office/drawing/2014/main" id="{F4B026F1-3B62-21F2-D88C-97E4318E84F9}"/>
              </a:ext>
            </a:extLst>
          </p:cNvPr>
          <p:cNvSpPr/>
          <p:nvPr/>
        </p:nvSpPr>
        <p:spPr>
          <a:xfrm>
            <a:off x="594744" y="434216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7" name="Gráfico 26">
            <a:extLst>
              <a:ext uri="{FF2B5EF4-FFF2-40B4-BE49-F238E27FC236}">
                <a16:creationId xmlns:a16="http://schemas.microsoft.com/office/drawing/2014/main" id="{0A0F7571-82F7-ABC0-74E1-D3E92A6B05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7831" y="4447844"/>
            <a:ext cx="352944" cy="360965"/>
          </a:xfrm>
          <a:prstGeom prst="rect">
            <a:avLst/>
          </a:prstGeom>
        </p:spPr>
      </p:pic>
    </p:spTree>
    <p:extLst>
      <p:ext uri="{BB962C8B-B14F-4D97-AF65-F5344CB8AC3E}">
        <p14:creationId xmlns:p14="http://schemas.microsoft.com/office/powerpoint/2010/main" val="2371464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1520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4" ma:contentTypeDescription="Create a new document." ma:contentTypeScope="" ma:versionID="894987b6a2ba3f058ad13be232fc7de6">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576219bc32e6af574b7254886c8d3cb"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2.xml><?xml version="1.0" encoding="utf-8"?>
<ds:datastoreItem xmlns:ds="http://schemas.openxmlformats.org/officeDocument/2006/customXml" ds:itemID="{11B2E877-7561-41DA-AAC7-0B6400DBCA3B}">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C661F7A-1649-4A39-91A5-A3893F5678E5}">
  <ds:schemaRefs>
    <ds:schemaRef ds:uri="aacb3b2f-5927-4b98-82b1-fea2b4072a8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263</TotalTime>
  <Words>1553</Words>
  <Application>Microsoft Office PowerPoint</Application>
  <PresentationFormat>Personalizar</PresentationFormat>
  <Paragraphs>187</Paragraphs>
  <Slides>16</Slides>
  <Notes>15</Notes>
  <HiddenSlides>6</HiddenSlides>
  <MMClips>0</MMClips>
  <ScaleCrop>false</ScaleCrop>
  <HeadingPairs>
    <vt:vector size="6" baseType="variant">
      <vt:variant>
        <vt:lpstr>Fontes usadas</vt:lpstr>
      </vt:variant>
      <vt:variant>
        <vt:i4>6</vt:i4>
      </vt:variant>
      <vt:variant>
        <vt:lpstr>Tema</vt:lpstr>
      </vt:variant>
      <vt:variant>
        <vt:i4>3</vt:i4>
      </vt:variant>
      <vt:variant>
        <vt:lpstr>Títulos de slides</vt:lpstr>
      </vt:variant>
      <vt:variant>
        <vt:i4>16</vt:i4>
      </vt:variant>
    </vt:vector>
  </HeadingPairs>
  <TitlesOfParts>
    <vt:vector size="25" baseType="lpstr">
      <vt:lpstr>Calibri</vt:lpstr>
      <vt:lpstr>Arial</vt:lpstr>
      <vt:lpstr>Poppins Bold</vt:lpstr>
      <vt:lpstr>Poppins Light</vt:lpstr>
      <vt:lpstr>Poppins</vt:lpstr>
      <vt:lpstr>Poppins Medium</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27</cp:revision>
  <dcterms:modified xsi:type="dcterms:W3CDTF">2026-09-17T15:39:11Z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